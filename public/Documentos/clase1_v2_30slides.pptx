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Presentarse, mencionar que hoy el entorno tiene que quedar andando en el celular de cada estudiante.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brevemente. El workshop es la parte central — reservar 2h 30m.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Preguntar: ¿quién usó Ionic o Cordova? La diferencia fundamental es que RN NO usa un navegador embebido.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que en React Native 0.71+ la nueva arquitectura JSI reemplaza el Bridge. Más rápido, sincrónico.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este curso usamos Expo Managed Workflow — la opción más sencilla para arrancar.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en vivo: modificar un texto y mostrar el hot reload en tiempo real en el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entrar en debate. RN es la elección correcta para este curso: curva corta para devs web y alta demanda laboral.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de 10 minutos para que todos instalen. Los que ya tienen pueden ayudar al de al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coding. Los alumnos hacen lo mismo. Objetivo: QR en pantalla y app corriendo en el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saben React web: el JSX es idéntico. La diferencia está en los componentes primitivos (View/Text vs div/p).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Ejercicio: pedir que creen un componente TarjetaMateria con nombre, código y créditos como props.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cómo cada nodo es una función TypeScript. El árbol crece clase 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cambiar backgroundColor en vivo y ver el hot reload. Preguntar cuál es la diferencia con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diferencia más importante vs CSS: flexDirection por defecto es COLUMN (en web es row).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Expo Snack cada ejemplo en vivo. Cambiar un valor y ver el efecto inmediato.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entrar en detalle de todos. Mencionar que los verán en uso durante el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Primera tarea del equipo en el workshop: definir su propia paleta en theme.ts.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Crear esta estructura en vivo con los alumnos — que todos la vean crecer desde cero.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Demostración: crear el repo en GitHub y agregar a los compañeros como colaboradores.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un PR real en GitHub para que vean cómo se ve la interfaz de code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cada grupo. Ayudar a acotar el scope — los proyectos siempre tienden a ser demasiado ambiciosos.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coding en pantalla. El objetivo es que TODOS tengan la app corriendo en su celular al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Reproducir el primer error intencionalmente — eliminar el &lt;Text&gt; wrapper y mostrar el mensaje de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vivo: cambiar el color de fondo y el texto — mostrar el reload en menos de 1 segundo.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cambiar el bundleIdentifier hasta clase 10 — solo importa para el build de producción.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resultado final del live coding. Cada grupo adapta los colores a su tema.ts.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Verificar que cada grupo tenga el repo creado antes de irse. Sin repo no hay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Mandar estos links por el canal del curso. No son obligatorios pero son la base del autoaprendizaje.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Motivar: en la Clase 2 van a ver su app con datos reales y listas scrolleables.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energético. Recordar: repo en GitHub antes de la Clase 2. El que tiene el wireframe tiene ventaja.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0"/>
            <a:ext cx="2103120" cy="5143500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457200"/>
            <a:ext cx="914400" cy="9144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457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68580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Aplicaciones Móviles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React Native y Expo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11480" y="2423160"/>
            <a:ext cx="32004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7860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· Setup · JSX · Flexbox · Proyecto grupal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0175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Pilar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Tecnicatura en Desarrollo de Software  · 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 rot="5400000">
            <a:off x="7818120" y="1371600"/>
            <a:ext cx="914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Móviles · React Native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clase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70432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261872"/>
            <a:ext cx="420624" cy="42062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2618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22529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React Native y Expo?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148132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comparativa, casos de uso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62672" y="1325880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672" y="1325880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1883664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1975104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19751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193852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del entorno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19456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Expo CLI, Expo Go en el dispositivo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62672" y="2039112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62672" y="2039112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596896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2688336"/>
            <a:ext cx="420624" cy="42062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6883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3000" y="26517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y componentes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290779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Sintaxis, props, TypeScript básico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662672" y="2752344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2752344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3310128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3401568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4015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43000" y="336499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StyleSheet y Flexbox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43000" y="362102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en mobile, diferencias con CSS web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662672" y="3465576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62672" y="3465576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4023360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4114800"/>
            <a:ext cx="420624" cy="4206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4114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3000" y="407822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grupal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43000" y="4334256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proyecto, repo GitHub, primera pantalla estática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662672" y="4178808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62672" y="4178808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30m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React Native?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Escribís JavaScript/TypeScript y obtenés componentes nativos reales de iOS y Android.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5087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61848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código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" y="206654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048256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/ TypeScript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" y="256946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551176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JSX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" y="307238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54096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base de código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" y="357530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557016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compartida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63240" y="26517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18688" y="15087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161848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(Bridge/JSI)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19856" y="206654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84448" y="2048256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JSX a UI nativa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19856" y="256946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84448" y="2551176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 APIs del sistema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419856" y="307238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3054096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threading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19856" y="357530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4448" y="3557016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 mensajes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870448" y="26517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025896" y="15087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35624" y="161848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27064" y="206654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91656" y="2048256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UIView real (iOS)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27064" y="256946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91656" y="2551176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real (Android)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27064" y="307238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91656" y="3054096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Cámara, Bluetooth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27064" y="357530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91656" y="3557016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archivos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11480" y="455371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WebView (Ionic, Cordova), RN renderiza componentes nativos reales — misma performance que Swift/Kotlin.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interna de React Native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código JS se comunica con el sistema nativo a través del Bridge o la nueva arquitectura JSI.</a:t>
            </a:r>
            <a:endParaRPr lang="en-US" sz="1300" dirty="0"/>
          </a:p>
        </p:txBody>
      </p:sp>
      <p:pic>
        <p:nvPicPr>
          <p:cNvPr id="10" name="Image 0" descr="Diagrama de arquitectura React Nat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Expo?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es la capa de herramientas que hace a React Native productivo desde el primer día.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508760"/>
            <a:ext cx="4023360" cy="1389888"/>
          </a:xfrm>
          <a:prstGeom prst="roundRect">
            <a:avLst>
              <a:gd name="adj" fmla="val 65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837944"/>
            <a:ext cx="640080" cy="6400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379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99032" y="16916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99032" y="1984248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módulos nativos listos: Camera, Location, Notifications, SecureStore, FileSystem, etc.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508760"/>
            <a:ext cx="4023360" cy="1389888"/>
          </a:xfrm>
          <a:prstGeom prst="roundRect">
            <a:avLst>
              <a:gd name="adj" fmla="val 65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837944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8379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50992" y="16916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CLI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50992" y="1984248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create-expo-app, expo start, expo install. Abstrae Xcode y Android Studio completamente.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127248"/>
            <a:ext cx="4023360" cy="1389888"/>
          </a:xfrm>
          <a:prstGeom prst="roundRect">
            <a:avLst>
              <a:gd name="adj" fmla="val 65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456432"/>
            <a:ext cx="640080" cy="6400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456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99032" y="331012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Go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99032" y="3602736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para escanear QR y ver tu app en desarrollo al instante en iOS o Android — sin builds.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127248"/>
            <a:ext cx="4023360" cy="1389888"/>
          </a:xfrm>
          <a:prstGeom prst="roundRect">
            <a:avLst>
              <a:gd name="adj" fmla="val 65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456432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456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50992" y="331012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Build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50992" y="3602736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en la nube. Genera APK e IPA sin necesitar una Mac. Ideal para equipos.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EXPO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trabajo con Expo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escribir código a verlo en tu celular en menos de 30 segundos.</a:t>
            </a:r>
            <a:endParaRPr lang="en-US" sz="1300" dirty="0"/>
          </a:p>
        </p:txBody>
      </p:sp>
      <p:pic>
        <p:nvPicPr>
          <p:cNvPr id="10" name="Image 0" descr="Flujo de trabajo Expo: código → CLI → Expo Go → EAS Bui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Native vs. las alternativas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8321040" cy="3749040"/>
        </p:xfrm>
        <a:graphic>
          <a:graphicData uri="http://schemas.openxmlformats.org/drawingml/2006/table">
            <a:tbl>
              <a:tblPr/>
              <a:tblGrid>
                <a:gridCol w="1920240"/>
                <a:gridCol w="1737360"/>
                <a:gridCol w="1508760"/>
                <a:gridCol w="1737360"/>
                <a:gridCol w="160020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React Native + Expo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Flutter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Nativo iOS/Android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Web App (PWA)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</a:rPr>
                        <a:t>Lenguaje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2238"/>
                          </a:solidFill>
                        </a:rPr>
                        <a:t>JS / TypeScript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Dart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Swift / Kotlin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HTML + JS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</a:rPr>
                        <a:t>Rendimiento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2238"/>
                          </a:solidFill>
                        </a:rPr>
                        <a:t>★★★★☆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★★★★★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★★★★★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★★★☆☆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</a:rPr>
                        <a:t>Velocidad de desarrollo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2238"/>
                          </a:solidFill>
                        </a:rPr>
                        <a:t>★★★★★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★★★★☆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★★★☆☆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★★★★★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</a:rPr>
                        <a:t>Acceso a hardware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2238"/>
                          </a:solidFill>
                        </a:rPr>
                        <a:t>★★★★☆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★★★☆☆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★★★★★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★★☆☆☆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</a:rPr>
                        <a:t>Comunidad React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2238"/>
                          </a:solidFill>
                        </a:rPr>
                        <a:t>✓ Sí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✗ 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✗ 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✓ Sí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Configuración del entorno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necesitás 3 herramientas para arrancar hoy mismo.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591056"/>
            <a:ext cx="438912" cy="43891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910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481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LTS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05840" y="1783080"/>
            <a:ext cx="7726680" cy="594360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1911096"/>
            <a:ext cx="73609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--version   # → v20.x.x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--version    # → 10.x.x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642616"/>
            <a:ext cx="438912" cy="43891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426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532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CLI global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5840" y="2834640"/>
            <a:ext cx="7726680" cy="594360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2962656"/>
            <a:ext cx="73609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expo-cli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 --version   # → 0.18.x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694176"/>
            <a:ext cx="438912" cy="43891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6941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5844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Go en tu celular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05840" y="3886200"/>
            <a:ext cx="7726680" cy="594360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4014216"/>
            <a:ext cx="73609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iOS: App Store → buscar 'Expo Go'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Android: Google Play → buscar 'Expo Go'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617720"/>
            <a:ext cx="8321040" cy="384048"/>
          </a:xfrm>
          <a:prstGeom prst="roundRect">
            <a:avLst>
              <a:gd name="adj" fmla="val 2381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68172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Verificar que todos tienen el entorno funcionando antes de continuar — 10 minutos.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y ejecutar el primer proyecto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comando genera la estructura completa con TypeScript preconfigurado.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2240280"/>
          </a:xfrm>
          <a:prstGeom prst="roundRect">
            <a:avLst>
              <a:gd name="adj" fmla="val 408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198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Crear proyecto con template TypeScript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create-expo-app mi-app --template blank-typescript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Entrar al directorio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mi-app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Iniciar el servidor de desarrollo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start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Aparece un QR en la terminal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Abrí Expo Go en el celular y escaneá el QR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generada: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4663440" cy="896112"/>
          </a:xfrm>
          <a:prstGeom prst="roundRect">
            <a:avLst>
              <a:gd name="adj" fmla="val 1020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197096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mi-app/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app/          ← rutas (Expo Router)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components/   ← componentes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constants/    ← theme.ts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app.json      ← config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tsconfig.json ← TypeScript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57800" y="374904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3822192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Escaneá el QR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Expo Go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app en el celular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tiempo real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JSX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JSX — la sintaxis de los componentes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te permite escribir UI con sintaxis similar a HTML, pero compilada a llamadas nativas.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120640" cy="3520440"/>
          </a:xfrm>
          <a:prstGeom prst="roundRect">
            <a:avLst>
              <a:gd name="adj" fmla="val 259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75488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app/(tabs)/index.tsx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View, Text, StyleSheet } from 'react-native';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HomeScreen()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nombre = 'Estudiantes UNP';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año    = 2026;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&lt;View style={styles.container}&gt;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 style={styles.titulo}&gt;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Bienvenidos, {nombre}!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 style={styles.sub}&gt;Año {año}&lt;/Text&gt;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141732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clave: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1764792"/>
            <a:ext cx="3063240" cy="530352"/>
          </a:xfrm>
          <a:prstGeom prst="roundRect">
            <a:avLst>
              <a:gd name="adj" fmla="val 1724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183794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06440" y="204825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— equivale a &lt;div&gt;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0" y="2386584"/>
            <a:ext cx="3063240" cy="530352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45973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06440" y="267004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texto va dentro de &lt;Text&gt;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0" y="3008376"/>
            <a:ext cx="3063240" cy="530352"/>
          </a:xfrm>
          <a:prstGeom prst="roundRect">
            <a:avLst>
              <a:gd name="adj" fmla="val 1724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308152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{expresión}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329184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inline — variables, funciones, ternarios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0" y="3630168"/>
            <a:ext cx="3063240" cy="530352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370332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391363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archivo = un componente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0" y="4251960"/>
            <a:ext cx="3063240" cy="530352"/>
          </a:xfrm>
          <a:prstGeom prst="roundRect">
            <a:avLst>
              <a:gd name="adj" fmla="val 1724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432511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camelCase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06440" y="453542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onPress, backgroundColor, fontSize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COMPONENTES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y Props tipadas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componentes son funciones que reciben props y devuelven JSX — la unidad básica de construcción.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29200" cy="3520440"/>
          </a:xfrm>
          <a:prstGeom prst="roundRect">
            <a:avLst>
              <a:gd name="adj" fmla="val 259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66344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components/TarjetaEstudiante.tsx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Props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nombre: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legajo:   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activo?:   boolean;    // ? = opcional, default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TarjetaEstudiante({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nombre, legajo, activo =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}: Props)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&lt;View style={styles.card}&gt;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 style={styles.nombre}&gt;{nombre}&lt;/Text&gt;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 style={styles.legajo}&gt;#{legajo}&lt;/Text&gt;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{activo &amp;&amp;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style={styles.badge}&gt;Activo&lt;/Text&gt;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1417320"/>
            <a:ext cx="3154680" cy="2212848"/>
          </a:xfrm>
          <a:prstGeom prst="roundRect">
            <a:avLst>
              <a:gd name="adj" fmla="val 413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545336"/>
            <a:ext cx="278892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 — HomeScreen.tsx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&lt;TarjetaEstudiante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nombre='Ana García'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legajo={4521}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activo={true}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&lt;TarjetaEstudiante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nombre='Luis Pérez'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legajo={4890}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activo no pasado → usa default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3749040"/>
            <a:ext cx="3154680" cy="1188720"/>
          </a:xfrm>
          <a:prstGeom prst="roundRect">
            <a:avLst>
              <a:gd name="adj" fmla="val 7692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38587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Props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42432" y="421538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25312" y="419709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fluyen padre → hijo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42432" y="444398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25312" y="442569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de solo lectura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42432" y="467258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25312" y="465429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las hace opcionales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42432" y="490118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25312" y="488289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las valida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Árbol de componentes del proyecto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verá la estructura de componentes del proyecto grupal al final del curso.</a:t>
            </a:r>
            <a:endParaRPr lang="en-US" sz="1300" dirty="0"/>
          </a:p>
        </p:txBody>
      </p:sp>
      <p:pic>
        <p:nvPicPr>
          <p:cNvPr id="10" name="Image 0" descr="Árbol de componentes del proyecto grup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609344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ESTILOS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StyleSheet — estilos en React Native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estilos van en objetos TypeScript, no en CSS. La API es parecida pero con diferencias clave.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29200" cy="3520440"/>
          </a:xfrm>
          <a:prstGeom prst="roundRect">
            <a:avLst>
              <a:gd name="adj" fmla="val 259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66344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StyleSheet } from 'react-native';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styles = StyleSheet.create({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flex: 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backgroundColor: '#F8FAFC',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padding: 16,                  // sin 'px'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titulo: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fontSize: 24,                 // número, no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fontWeight: 'bold',           //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'#152238',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marginBottom: 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badge: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backgroundColor: '#BFDBFE',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'#1D4ED8',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borderRadius: 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paddingHorizontal: 12,        // eje 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paddingVertical: 4,           // eje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1417320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490472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camelCase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715000" y="1700784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backgroundColor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background-color)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2130552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203704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unidades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715000" y="2414016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fontSize: 24 (no '24px')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2843784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2916936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715000" y="312724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padding: 16 (no '16px')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3557016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3630168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herencia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715000" y="384048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componente define sus propios estilos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4270248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4343400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paddingH/V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715000" y="455371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X / eje Y por separado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609344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FLEXBOX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Flexbox en mobile — conceptos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usa Flexbox como único sistema de layout. Por defecto: flexDirection es 'column'.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2487168"/>
          </a:xfrm>
          <a:prstGeom prst="roundRect">
            <a:avLst>
              <a:gd name="adj" fmla="val 367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Los 5 props más usados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flex: 1,                     // ocupa todo el espacio disponible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flexDirection: 'column',     // 'row' | 'column' | 'row-reverse'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justifyContent: 'center',    // eje principal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alignItems: 'center',        // eje cruzado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12,                     // espacio entre hijos (RN 0.71+)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Distribución proporcional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header: { flex: 1 },   // 33% del espacio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body:   { flex: 2 },   // 67% del espacio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footer: { flex: 1 },   // 33% del espacio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405993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00507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4005072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Proporción del espacio disponible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426110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2062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flexDirection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420624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Dirección del eje principal: column (↓) o row (→)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46227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40740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justifyContent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440740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Distribución en el eje principal: center, space-between, flex-end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66344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60857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alignItems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4608576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Alineación en el eje cruzado: center, stretch, flex-start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86460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80974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03120" y="4809744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Espacio entre hijos sin usar margin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453896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VISUAL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Flexbox — comportamiento visual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ven en pantalla los distintos valores de flexDirection, justifyContent y flex.</a:t>
            </a:r>
            <a:endParaRPr lang="en-US" sz="1300" dirty="0"/>
          </a:p>
        </p:txBody>
      </p:sp>
      <p:pic>
        <p:nvPicPr>
          <p:cNvPr id="10" name="Image 0" descr="Comportamiento visual de Flexbox en React Nat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nativos esenciales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son los bloques primitivos con los que se construye toda app en React Native.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234440"/>
            <a:ext cx="4023360" cy="1133856"/>
          </a:xfrm>
          <a:prstGeom prst="roundRect">
            <a:avLst>
              <a:gd name="adj" fmla="val 80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25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6184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base. Equivale a div en web.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1856232"/>
            <a:ext cx="3749040" cy="384048"/>
          </a:xfrm>
          <a:prstGeom prst="roundRect">
            <a:avLst>
              <a:gd name="adj" fmla="val 1190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892808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&lt;View style={styles.box} /&gt;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4023360" cy="1133856"/>
          </a:xfrm>
          <a:prstGeom prst="roundRect">
            <a:avLst>
              <a:gd name="adj" fmla="val 8065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325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16184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texto debe ir dentro de Text.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1856232"/>
            <a:ext cx="3749040" cy="384048"/>
          </a:xfrm>
          <a:prstGeom prst="roundRect">
            <a:avLst>
              <a:gd name="adj" fmla="val 1190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892808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&lt;Text&gt;{mensaje}&lt;/Text&gt;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496312"/>
            <a:ext cx="4023360" cy="1133856"/>
          </a:xfrm>
          <a:prstGeom prst="roundRect">
            <a:avLst>
              <a:gd name="adj" fmla="val 80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5877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28803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locales y remotas (uri).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118104"/>
            <a:ext cx="3749040" cy="384048"/>
          </a:xfrm>
          <a:prstGeom prst="roundRect">
            <a:avLst>
              <a:gd name="adj" fmla="val 1190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15468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&lt;Image source={{uri:url}} /&gt;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496312"/>
            <a:ext cx="4023360" cy="1133856"/>
          </a:xfrm>
          <a:prstGeom prst="roundRect">
            <a:avLst>
              <a:gd name="adj" fmla="val 8065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5877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TextInput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28803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texto editable.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3118104"/>
            <a:ext cx="3749040" cy="384048"/>
          </a:xfrm>
          <a:prstGeom prst="roundRect">
            <a:avLst>
              <a:gd name="adj" fmla="val 1190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15468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&lt;TextInput onChangeText={setV} /&gt;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3758184"/>
            <a:ext cx="4023360" cy="1133856"/>
          </a:xfrm>
          <a:prstGeom prst="roundRect">
            <a:avLst>
              <a:gd name="adj" fmla="val 80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8496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TouchableOpacity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41422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presionable con feedback visual.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379976"/>
            <a:ext cx="3749040" cy="384048"/>
          </a:xfrm>
          <a:prstGeom prst="roundRect">
            <a:avLst>
              <a:gd name="adj" fmla="val 1190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41655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&lt;TouchableOpacity onPress={fn} /&gt;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758184"/>
            <a:ext cx="4023360" cy="1133856"/>
          </a:xfrm>
          <a:prstGeom prst="roundRect">
            <a:avLst>
              <a:gd name="adj" fmla="val 8065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8496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ScrollView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00600" y="41422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con scroll libre.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00600" y="4379976"/>
            <a:ext cx="3749040" cy="384048"/>
          </a:xfrm>
          <a:prstGeom prst="roundRect">
            <a:avLst>
              <a:gd name="adj" fmla="val 1190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441655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&lt;ScrollView horizontal={false} /&gt;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tokens — constants/theme.ts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 paleta y escala tipográfica desde el primer día evita inconsistencias en todo el proyecto.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4937760" cy="3520440"/>
          </a:xfrm>
          <a:prstGeom prst="roundRect">
            <a:avLst>
              <a:gd name="adj" fmla="val 259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57200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constants/theme.ts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Colors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primary:    '#1D4ED8',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secondary:  '#0D9488',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'#F8FAFC',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surface:    '#FFFFFF',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text:       '#152238',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textMuted:  '#64748B',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danger:     '#EF4444',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success:    '#22C55E',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warning:    '#F59E0B',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Spacing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xs: 4,  sm: 8,  md: 16,  lg: 24,  xl: 32,  xxl: 48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FontSize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xs: 11,  sm: 12,  md: 14,  lg: 16,  xl: 20,  xxl: 24,  xxxl: 32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Radius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sm: 4,  md: 8,  lg: 12,  xl: 20,  full: 999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1417320"/>
            <a:ext cx="3246120" cy="2377440"/>
          </a:xfrm>
          <a:prstGeom prst="roundRect">
            <a:avLst>
              <a:gd name="adj" fmla="val 384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545336"/>
            <a:ext cx="288036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 en componentes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{Colors, Spacing} from '@/constants/theme';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styles = StyleSheet.create({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boton: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backgroundColor: Colors.primary,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padding: Spacing.md,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borderRadius: Radius.md,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texto: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Colors.text,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fontSize: FontSize.lg,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3913632"/>
            <a:ext cx="3246120" cy="1024128"/>
          </a:xfrm>
          <a:prstGeom prst="roundRect">
            <a:avLst>
              <a:gd name="adj" fmla="val 8929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4005072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magic numbers.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hardcodear colores.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carpetas del proyecto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estructura se usa desde el día 1 y escala a lo largo de todo el curso.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212080" cy="3520440"/>
          </a:xfrm>
          <a:prstGeom prst="roundRect">
            <a:avLst>
              <a:gd name="adj" fmla="val 259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846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mi-app/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app/                    ← rutas (Expo Router)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(tabs)/             ← Tab Navigator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│   ├── index.tsx       ← HomeScreen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│   └── perfil.tsx      ← PerfilScreen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detalle/[id].tsx    ← ruta dinámica (Clase 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_layout.tsx         ← layout raíz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components/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ui/                 ← Boton, Badge, Input genéricos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TarjetaX.tsx        ← componente del dominio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constants/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theme.ts            ← colores, tipografía, spacing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types/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index.ts            ← interfaces TypeScript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hooks/                  ← custom hooks (Clase 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services/               ← llamadas a API (Clase 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data/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└── mockData.ts         ← datos de prueba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1417320"/>
            <a:ext cx="2971800" cy="352044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53619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 del equipo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192938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911096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PascalCase para componentes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97880" y="238658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368296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camelCase para funciones y variables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97880" y="284378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2825496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componente por archivo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97880" y="330098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3282696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siempre tipadas con interfaces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97880" y="375818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3739896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al final del archivo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97880" y="421538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4197096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magic numbers ni hardcoded strings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97880" y="467258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4654296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console.log en Pull Requests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453896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GIT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workflow del equipo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 simple que evita los conflictos más comunes en proyectos grupales.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527048"/>
            <a:ext cx="438912" cy="43891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27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4356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rama por feature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1719072"/>
            <a:ext cx="7726680" cy="384048"/>
          </a:xfrm>
          <a:prstGeom prst="roundRect">
            <a:avLst>
              <a:gd name="adj" fmla="val 2381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1847088"/>
            <a:ext cx="736092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feature/pantalla-home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395728"/>
            <a:ext cx="438912" cy="43891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395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3042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y commitear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5840" y="2587752"/>
            <a:ext cx="7726680" cy="475488"/>
          </a:xfrm>
          <a:prstGeom prst="roundRect">
            <a:avLst>
              <a:gd name="adj" fmla="val 1923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2715768"/>
            <a:ext cx="73609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'add: HomeScreen component'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264408"/>
            <a:ext cx="438912" cy="43891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644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1729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cambios de main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5840" y="3456432"/>
            <a:ext cx="7726680" cy="475488"/>
          </a:xfrm>
          <a:prstGeom prst="roundRect">
            <a:avLst>
              <a:gd name="adj" fmla="val 1923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3584448"/>
            <a:ext cx="73609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 origin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origin/main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133088"/>
            <a:ext cx="438912" cy="43891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1330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0416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→ revisión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05840" y="4325112"/>
            <a:ext cx="7726680" cy="475488"/>
          </a:xfrm>
          <a:prstGeom prst="roundRect">
            <a:avLst>
              <a:gd name="adj" fmla="val 1923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4453128"/>
            <a:ext cx="73609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Abrir PR en GitHub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 menos 1 compañero aprueba antes del merge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892040"/>
            <a:ext cx="8321040" cy="18288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919472"/>
            <a:ext cx="79552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siempre deployable. Nadie pushea directo a main.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53162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531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FLOW VISUAL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branches — flujo visual del equipo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trabaja en su propia rama y mergea a main mediante Pull Request revisado.</a:t>
            </a:r>
            <a:endParaRPr lang="en-US" sz="1300" dirty="0"/>
          </a:p>
        </p:txBody>
      </p:sp>
      <p:pic>
        <p:nvPicPr>
          <p:cNvPr id="10" name="Image 0" descr="Diagrama de Git flow con feature branches y Pull Reques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28016"/>
            <a:ext cx="2286000" cy="292608"/>
          </a:xfrm>
          <a:prstGeom prst="roundRect">
            <a:avLst>
              <a:gd name="adj" fmla="val 2187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GRUPAL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30m · Kickoff del proyecto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el proyecto,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el repo y la primera pantalla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2121408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2505456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2505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2494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tema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Delivery, turnos, eventos, e-commerce, etc. Algo con CRUD que les interese y tenga alcance acotado.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45152" y="2121408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9744" y="2505456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2505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2392" y="22494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las pantallas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22392" y="2560320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4-6 pantallas mínimas. Home, detalle, formulario, perfil. Dibujar un wireframe básico en papel.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639312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" y="402336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767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del equipo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78224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líder de proyecto, devs por feature. Todos tocan código. Crear las ramas de trabajo desde el día 1.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45152" y="3639312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9744" y="402336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22392" y="3767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+ primera pantalla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22392" y="4078224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con README (nombre, descripción, integrantes). constants/theme.ts y HomeScreen estática.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HomeScreen estática — live coding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juntos la primera pantalla. Cada grupo adapta el contenido a su proyecto.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84448"/>
          </a:xfrm>
          <a:prstGeom prst="roundRect">
            <a:avLst>
              <a:gd name="adj" fmla="val 255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app/(tabs)/index.tsx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View, Text, Image, StyleSheet } from 'react-native';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Colors, Spacing, FontSize } from '@/constants/theme';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HomeScreen()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&lt;View style={styles.container}&gt;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Header con nombre del proyecto */}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&lt;View style={styles.header}&gt;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style={styles.titulo}&gt;Mi App ✓&lt;/Text&gt;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style={styles.sub}&gt;Tecnicatura UNP · 2026&lt;/Text&gt;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&lt;/View&gt;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Sección de bienvenida */}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&lt;View style={styles.bienvenida}&gt;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style={styles.emoji}&gt;🚀&lt;/Text&gt;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style={styles.msg}&gt;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Proyecto grupal · Clase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&lt;/View&gt;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Tarjetas de features del proyecto */}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&lt;View style={styles.features}&gt;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style={styles.featureLabel}&gt;Lo que vas a construir:&lt;/Text&gt;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{/* Agregar tarjetas según el proyecto */}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comunes en la Clase 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son los problemas que aparecen siempre en la primera clase — reconocerlos ahorra tiempo.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758952"/>
          </a:xfrm>
          <a:prstGeom prst="roundRect">
            <a:avLst>
              <a:gd name="adj" fmla="val 12048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50876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08760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52144" y="1481328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Unable to resolve module '@/constants/theme'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191109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Verificar tsconfig.json: paths: {'@/*': ['./*']}. Reiniciar el servidor con expo start --clear.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286000"/>
            <a:ext cx="8321040" cy="758952"/>
          </a:xfrm>
          <a:prstGeom prst="roundRect">
            <a:avLst>
              <a:gd name="adj" fmla="val 1204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37744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377440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" y="2350008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strings must be rendered within a &lt;Text&gt; component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77977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Envolver todo texto en &lt;Text&gt;. Revisar que no haya strings sueltos entre componentes JSX.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154680"/>
            <a:ext cx="8321040" cy="758952"/>
          </a:xfrm>
          <a:prstGeom prst="roundRect">
            <a:avLst>
              <a:gd name="adj" fmla="val 12048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24612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246120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52144" y="3218688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find module 'react-native'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64845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Borrar node_modules y package-lock.json. Correr npm install. Reiniciar Expo.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023360"/>
            <a:ext cx="8321040" cy="758952"/>
          </a:xfrm>
          <a:prstGeom prst="roundRect">
            <a:avLst>
              <a:gd name="adj" fmla="val 1204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411480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114800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52144" y="4087368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Invariant Violation: View config getter callback must be a function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51713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Verificar la capitalización: View, Text, Image (con mayúscula). Revisar el import.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 Reload — la herramienta más poderosa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actualiza tu app en el celular en menos de 1 segundo al guardar un archivo.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764792"/>
            <a:ext cx="658368" cy="65836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647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17320" y="16002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Refresh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1911096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solo el componente que cambió sin reiniciar la app. El estado se preserva.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764792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7647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0" y="16002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Menu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1911096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Agitar el dispositivo o Cmd+D / Ctrl+M abre el menú: reload, inspector, performance.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1089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456432"/>
            <a:ext cx="658368" cy="65836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4564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17320" y="32918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3602736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logs aparecen en la terminal donde corrés expo start. Útil para debugging rápido.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1089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456432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4564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0" y="32918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DevTools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0" y="3602736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para Chrome/Firefox para inspeccionar el árbol de componentes en tiempo real.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app.json — configuración del proyecto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archivo define el nombre, ícono, permisos y plataformas soportadas de la app.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20440"/>
          </a:xfrm>
          <a:prstGeom prst="roundRect">
            <a:avLst>
              <a:gd name="adj" fmla="val 259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"expo":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   "Mi App UNP",          // nombre en el dispositivo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"slug":    "mi-app-unp",           // ID único en Expo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"version": "1.0.0",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"orientation": "portrait",         // portrait | landscape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"icon":    "./assets/icon.png",    // 1024x1024 PNG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"splash":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"image": "./assets/splash.png",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"backgroundColor": "#152238"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"ios":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"bundleIdentifier": "com.unp.miapp",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"supportsTablet":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"android":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"package": "com.unp.miapp",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"permissions": ["CAMERA", "ACCESS_FINE_LOCATION"]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"plugins": ["expo-camera", "expo-location"]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Primera pantalla completa con estilos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Agregamos estilos reales usando theme.ts — la pantalla que se entrega al final de la clase.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84448"/>
          </a:xfrm>
          <a:prstGeom prst="roundRect">
            <a:avLst>
              <a:gd name="adj" fmla="val 255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styles = StyleSheet.create({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flex: 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backgroundColor: Colors.background,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padding: Spacing.md,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paddingTop: Spacing.xl,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paddingBottom: Spacing.md,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borderBottomWidth: 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borderBottomColor: '#E2E8F0',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titulo: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fontSize: FontSize.xxxl,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fontWeight: 'bold',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Colors.text,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fontSize: FontSize.md,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Colors.textMuted,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marginTop: Spacing.xs,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bienvenida: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flex: 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alignItems: 'center',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justifyContent: 'center',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gap: Spacing.md,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grupal — Clase 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el equipo debe tener commiteado antes del inicio de la Clase 2.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508760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08760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14630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en GitHub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1664208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main protegida, todos los integrantes como colaboradores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1938528"/>
            <a:ext cx="83210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029968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029968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19842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completo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185416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proyecto, descripción, integrantes, capturas de la primera pantalla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459736"/>
            <a:ext cx="832104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551176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55117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25054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Expo corriendo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2706624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expo start sin errores — app visible en Expo Go en el celular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2980944"/>
            <a:ext cx="83210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072384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072384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02666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carpetas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227832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app/, components/, constants/, types/, data/ creadas según la convención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502152"/>
            <a:ext cx="832104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593592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593592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35478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constants/theme.ts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" y="3749040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colores, escala tipográfica y spacing definidos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4023360"/>
            <a:ext cx="83210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" y="4114800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4114800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5840" y="40690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HomeScreen estática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05840" y="4270248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principal con el nombre del proyecto y diseño base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4544568"/>
            <a:ext cx="8321040" cy="45720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0352" y="4636008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4636008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★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05840" y="45902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de las 4-6 pantallas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05840" y="4791456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Boceto (papel o Figma) del flujo de usuario del proyecto — bonus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808976" y="4636008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08976" y="463600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" y="5074920"/>
            <a:ext cx="8321040" cy="146304"/>
          </a:xfrm>
          <a:prstGeom prst="roundRect">
            <a:avLst>
              <a:gd name="adj" fmla="val 625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" y="5102352"/>
            <a:ext cx="79552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del repo en el canal del curso antes de la Clase 2.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Documentación y recursos del curso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70432"/>
            <a:ext cx="2724912" cy="3520440"/>
          </a:xfrm>
          <a:prstGeom prst="roundRect">
            <a:avLst>
              <a:gd name="adj" fmla="val 33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29844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oficial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9496" y="1719072"/>
            <a:ext cx="24688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179222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reactnative.dev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" y="202996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oficial de React Native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" y="2679192"/>
            <a:ext cx="24688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75234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docs.expo.dev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" y="299008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de Expo y referencia completa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" y="3639312"/>
            <a:ext cx="24688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371246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expo.github.io/router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" y="39502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 — file-based routing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73552" y="1170432"/>
            <a:ext cx="2724912" cy="3520440"/>
          </a:xfrm>
          <a:prstGeom prst="roundRect">
            <a:avLst>
              <a:gd name="adj" fmla="val 33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29844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del curso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01568" y="1719072"/>
            <a:ext cx="24688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179222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expo.dev/go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93008" y="202996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Expo Go para iOS/Android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01568" y="2679192"/>
            <a:ext cx="24688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275234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snack.expo.dev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93008" y="299008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 online de React Native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01568" y="3639312"/>
            <a:ext cx="24688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371246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93008" y="39502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grupal del proyecto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35624" y="1170432"/>
            <a:ext cx="2724912" cy="3520440"/>
          </a:xfrm>
          <a:prstGeom prst="roundRect">
            <a:avLst>
              <a:gd name="adj" fmla="val 33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129844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seguir aprendiendo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63640" y="1719072"/>
            <a:ext cx="24688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79222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@notjust.dev en YouTube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202996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completos con Expo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2679192"/>
            <a:ext cx="24688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275234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react.dev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299008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oficial de React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3639312"/>
            <a:ext cx="24688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371246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typescriptlang.org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55080" y="39502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— handbook completo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" y="481888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material del curso estará en el aula virtual de la Universidad Nacional de Pilar.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6172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61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2 — Lo que viene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repo y la primera pantalla lista, la Clase 2 arranca directo al código.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63040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57276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727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73936" y="1572768"/>
            <a:ext cx="6812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local — qué es el estado, cómo cambia la UI, múltiples estados, re-renders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148840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225856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2585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73936" y="2258568"/>
            <a:ext cx="6812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tipadas con TypeScript, composición de componentes, convenciones del equipo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2834640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94436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9443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FlatList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73936" y="2944368"/>
            <a:ext cx="6812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eficientes — windowing, keyExtractor, ListEmptyComponent, pull-to-refresh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3520440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63016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630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mockData.ts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73936" y="3630168"/>
            <a:ext cx="6812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prueba tipados antes de conectar la API real — iteración rápida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1480" y="4206240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431596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315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773936" y="4315968"/>
            <a:ext cx="6812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grupal: componentes del proyecto, FlatList funcionando y primer PR revisado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1480" y="4956048"/>
            <a:ext cx="8321040" cy="164592"/>
          </a:xfrm>
          <a:prstGeom prst="roundRect">
            <a:avLst>
              <a:gd name="adj" fmla="val 5555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992624"/>
            <a:ext cx="79552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el repo completo y el entorno funcionando — empezamos directo al código.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0"/>
            <a:ext cx="1234440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502920"/>
            <a:ext cx="960120" cy="9601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50292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863840" y="1664208"/>
            <a:ext cx="868680" cy="8686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166420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¿Consultas?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29260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1907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construimos hoy: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08483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6654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configurado y app corriendo en el celular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40487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8658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React Native y Expo explicada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272491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0662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JSX, props y componentes tipados con TypeScript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04495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2666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y StyleSheet para el layout mobile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36499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34670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proyecto grupal y Git workflow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368503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6674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pantalla estática con theme.ts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4041648"/>
            <a:ext cx="6217920" cy="0"/>
          </a:xfrm>
          <a:prstGeom prst="line">
            <a:avLst/>
          </a:prstGeom>
          <a:noFill/>
          <a:ln w="9525">
            <a:solidFill>
              <a:srgbClr val="2A4B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84632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4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Pilar · Tecnicatura en Desarrollo de Software ·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Aplicaciones Móviles — Clase 1</dc:title>
  <dc:subject>PptxGenJS Presentation</dc:subject>
  <dc:creator>Universidad Nacional de Pilar</dc:creator>
  <cp:lastModifiedBy>Universidad Nacional de Pilar</cp:lastModifiedBy>
  <cp:revision>1</cp:revision>
  <dcterms:created xsi:type="dcterms:W3CDTF">2026-06-12T15:11:13Z</dcterms:created>
  <dcterms:modified xsi:type="dcterms:W3CDTF">2026-06-12T15:11:13Z</dcterms:modified>
</cp:coreProperties>
</file>