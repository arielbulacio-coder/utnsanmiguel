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Portada. Conectar: ya tenemos READ desde la Clase 5. Hoy cerramos el ciclo con CREATE, UPDATE y DELETE.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 alguien aún tiene mockData — que lo elimine durante la clase mientras los demás avanzan.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1h 40m de teoría densa pero directa. El workshop es donde el CRUD cobra vida.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Ubicar a los alumnos: 'La parte verde (READ) ya la tienen. Hoy pintan las otras tres.'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Enfatizar: el feedback debe ser inmediato — no esperar al botón Submit para mostrar errores.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RHF usa refs internamente — no re-renderiza el componente con cada tecla. Solo re-renderiza al cambiar el estado de validación.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z.coerce.number() es clave para RN — TextInput siempre devuelve string, coerce lo convierte automáticamente.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z.infer&lt;typeof schema&gt; elimina la necesidad de definir la interfaz por separado — el tipo se infiere del schema.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mode: 'onTouched' valida cuando el campo pierde el foco. 'onChange' re-valida con cada tecla (más agresivo).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genérico &lt;T extends FieldValues&gt; le da type-safety completa — el name solo acepta campos del schema.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patrón de encadenamiento con refs es el más valorado por usuarios mobile — evita que tengan que presionar Done y luego tocar el siguiente campo.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keyboardShouldPersistTaps='handled' evita que el teclado se cierre al presionar botones dentro del ScrollView.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Mostrar cómo disabled={!isValid} evita submits con errores. El botón solo se habilita cuando el formulario es válido.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patrón headerRight con + es universal en apps iOS/Android. El usuario lo reconoce instintivamente.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Mostrar isDirty en acción: abrir el edit, no cambiar nada, mostrar que el botón está deshabilitado. Cambiar algo → se habilita.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service es agnóstico de Firebase vs REST — el hook y las pantallas no cambian al cambiar el backend.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style: 'destructive' en iOS pone el texto rojo automáticamente — usa siempre este estilo para acciones irreversibles.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Los íconos de lápiz y basura en el header son el patrón universal. El usuario sabe instantáneamente qué hacen.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Mostrar el toast en vivo después de crear un producto. Los alumnos lo ven funcionar en el celular.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 es la clase con más archivos nuevos del curso. Organizar bien el trabajo paralelo.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cuarto error es el más inmediato — visible en el primer testeo en un celular real con el teclado abierto.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 y C trabajan en paralelo — ambos reutilizan el mismo schema de A. D integra todo.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tarda ~20 min. En cuanto el schema está listo, B y C arrancan en paralelo. El cuello de botella es el schema — hacerlo bien desde el principio.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Arrancar con esta versión mínima en 15 min y luego iterar. Mejor eso que intentar hacer todo perfecto de una.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primero (z.coerce.number) es garantizado que aparece cuando hay campo de precio. Enseñarlo antes de que lo encuentren.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review más importante: probar el formulario en un celular real con el teclado físico abierto.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rama del schema es la más crítica — hacer merge a main antes de que B y C arranquen.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video del flujo completo es evidencia de que el CRUD funciona end-to-end en el dispositivo real.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 Clase 7 cada grupo elige su feature nativa — que ya lo piensen para traer la decisión hecha.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hito de hoy: el proyecto tiene CRUD real. Desde esta clase en adelante todo es refinamiento y features avanzadas.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22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49440" y="0"/>
            <a:ext cx="2194560" cy="5143500"/>
          </a:xfrm>
          <a:prstGeom prst="rect">
            <a:avLst/>
          </a:prstGeom>
          <a:solidFill>
            <a:srgbClr val="1B3358"/>
          </a:solidFill>
          <a:ln w="12700">
            <a:solidFill>
              <a:srgbClr val="1B335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955280" y="0"/>
            <a:ext cx="1188720" cy="514350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818120" y="457200"/>
            <a:ext cx="960120" cy="9601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18120" y="457200"/>
            <a:ext cx="9601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11480" y="685800"/>
            <a:ext cx="6400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EF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Clase 6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11480" y="1024128"/>
            <a:ext cx="64008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Formularios,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Validación y CRUD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411480" y="2304288"/>
            <a:ext cx="3200400" cy="0"/>
          </a:xfrm>
          <a:prstGeom prst="line">
            <a:avLst/>
          </a:prstGeom>
          <a:noFill/>
          <a:ln w="19050">
            <a:solidFill>
              <a:srgbClr val="FEF3C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2487168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Hook Form · Zod · TextInput · KeyboardAvoidingView · CRUD completo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11480" y="2944368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Universidad Nacional de Pilar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Tecnicatura en Desarrollo de Software  ·  2026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 rot="5400000">
            <a:off x="7818120" y="1371600"/>
            <a:ext cx="9144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B5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Aplicaciones Móviles · React Native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82128" y="128016"/>
            <a:ext cx="1170432" cy="274320"/>
          </a:xfrm>
          <a:prstGeom prst="roundRect">
            <a:avLst>
              <a:gd name="adj" fmla="val 23333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882128" y="128016"/>
            <a:ext cx="1170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 ·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046720" y="4873752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30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11480" y="128016"/>
            <a:ext cx="1371600" cy="274320"/>
          </a:xfrm>
          <a:prstGeom prst="roundRect">
            <a:avLst>
              <a:gd name="adj" fmla="val 23333"/>
            </a:avLst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28016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REPASO C5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512064"/>
            <a:ext cx="8321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Repaso Clase 5 — API funcionando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11480" y="950976"/>
            <a:ext cx="832104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115568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Verificar que la migración de mockData a API real esté completa antes de empezar el CRUD.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11480" y="1417320"/>
            <a:ext cx="8321040" cy="566928"/>
          </a:xfrm>
          <a:prstGeom prst="roundRect">
            <a:avLst>
              <a:gd name="adj" fmla="val 1612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30352" y="1527048"/>
            <a:ext cx="347472" cy="329184"/>
          </a:xfrm>
          <a:prstGeom prst="roundRect">
            <a:avLst>
              <a:gd name="adj" fmla="val 1666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0352" y="1527048"/>
            <a:ext cx="3474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✓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42416" y="1472184"/>
            <a:ext cx="4114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services/api.ts configurado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1042416" y="1709928"/>
            <a:ext cx="7498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axios con baseURL de variables de entorno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11480" y="2075688"/>
            <a:ext cx="832104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30352" y="2185416"/>
            <a:ext cx="347472" cy="329184"/>
          </a:xfrm>
          <a:prstGeom prst="roundRect">
            <a:avLst>
              <a:gd name="adj" fmla="val 1666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0352" y="2185416"/>
            <a:ext cx="3474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✓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42416" y="2130552"/>
            <a:ext cx="4114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hooks useProductos + useProductoById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1042416" y="2368296"/>
            <a:ext cx="7498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estados manejados: idle, loading, success, error, empty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11480" y="2734056"/>
            <a:ext cx="8321040" cy="566928"/>
          </a:xfrm>
          <a:prstGeom prst="roundRect">
            <a:avLst>
              <a:gd name="adj" fmla="val 1612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30352" y="2843784"/>
            <a:ext cx="347472" cy="329184"/>
          </a:xfrm>
          <a:prstGeom prst="roundRect">
            <a:avLst>
              <a:gd name="adj" fmla="val 1666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30352" y="2843784"/>
            <a:ext cx="3474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✓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42416" y="2788920"/>
            <a:ext cx="4114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SkeletonCard y ErrorView implementados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1042416" y="3026664"/>
            <a:ext cx="7498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UX profesional durante la carga y ante errores de red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11480" y="3392424"/>
            <a:ext cx="832104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30352" y="3502152"/>
            <a:ext cx="347472" cy="329184"/>
          </a:xfrm>
          <a:prstGeom prst="roundRect">
            <a:avLst>
              <a:gd name="adj" fmla="val 1666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30352" y="3502152"/>
            <a:ext cx="3474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✓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042416" y="3447288"/>
            <a:ext cx="4114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Pull-to-refresh en FlatList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1042416" y="3685032"/>
            <a:ext cx="7498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onRefresh + refreshing conectados al hook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11480" y="4050792"/>
            <a:ext cx="8321040" cy="566928"/>
          </a:xfrm>
          <a:prstGeom prst="roundRect">
            <a:avLst>
              <a:gd name="adj" fmla="val 1612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30352" y="4160520"/>
            <a:ext cx="347472" cy="329184"/>
          </a:xfrm>
          <a:prstGeom prst="roundRect">
            <a:avLst>
              <a:gd name="adj" fmla="val 1666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30352" y="4160520"/>
            <a:ext cx="3474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✓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042416" y="4105656"/>
            <a:ext cx="4114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mockData.ts eliminado del proyecto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1042416" y="4343400"/>
            <a:ext cx="7498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log muestra el commit de eliminación — no comentado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82128" y="128016"/>
            <a:ext cx="1170432" cy="274320"/>
          </a:xfrm>
          <a:prstGeom prst="roundRect">
            <a:avLst>
              <a:gd name="adj" fmla="val 23333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882128" y="128016"/>
            <a:ext cx="1170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 ·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046720" y="4873752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30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11480" y="128016"/>
            <a:ext cx="1371600" cy="274320"/>
          </a:xfrm>
          <a:prstGeom prst="roundRect">
            <a:avLst>
              <a:gd name="adj" fmla="val 23333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28016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CLASE 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512064"/>
            <a:ext cx="8321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 de hoy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11480" y="950976"/>
            <a:ext cx="832104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1480" y="1170432"/>
            <a:ext cx="8321040" cy="603504"/>
          </a:xfrm>
          <a:prstGeom prst="roundRect">
            <a:avLst>
              <a:gd name="adj" fmla="val 1515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66928" y="1261872"/>
            <a:ext cx="420624" cy="42062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126187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143000" y="1225296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 de formularios en mobile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143000" y="1481328"/>
            <a:ext cx="6217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los formularios son complejos — teclado, validación, UX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662672" y="1325880"/>
            <a:ext cx="877824" cy="237744"/>
          </a:xfrm>
          <a:prstGeom prst="roundRect">
            <a:avLst>
              <a:gd name="adj" fmla="val 23077"/>
            </a:avLst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62672" y="1325880"/>
            <a:ext cx="87782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11480" y="1883664"/>
            <a:ext cx="8321040" cy="603504"/>
          </a:xfrm>
          <a:prstGeom prst="roundRect">
            <a:avLst>
              <a:gd name="adj" fmla="val 1515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66928" y="1975104"/>
            <a:ext cx="420624" cy="420624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6928" y="1975104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143000" y="1938528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Hook Form + Zod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143000" y="2194560"/>
            <a:ext cx="6217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Arquitectura, Controller, zodResolver, errors tipados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7662672" y="2039112"/>
            <a:ext cx="877824" cy="237744"/>
          </a:xfrm>
          <a:prstGeom prst="roundRect">
            <a:avLst>
              <a:gd name="adj" fmla="val 23077"/>
            </a:avLst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62672" y="2039112"/>
            <a:ext cx="87782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min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11480" y="2596896"/>
            <a:ext cx="8321040" cy="603504"/>
          </a:xfrm>
          <a:prstGeom prst="roundRect">
            <a:avLst>
              <a:gd name="adj" fmla="val 1515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66928" y="2688336"/>
            <a:ext cx="420624" cy="42062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" y="2688336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143000" y="2651760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TextInput y teclado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143000" y="2907792"/>
            <a:ext cx="6217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keyboardType, KeyboardAvoidingView, encadenar campos con ref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7662672" y="2752344"/>
            <a:ext cx="877824" cy="237744"/>
          </a:xfrm>
          <a:prstGeom prst="roundRect">
            <a:avLst>
              <a:gd name="adj" fmla="val 23077"/>
            </a:avLst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662672" y="2752344"/>
            <a:ext cx="87782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11480" y="3310128"/>
            <a:ext cx="8321040" cy="603504"/>
          </a:xfrm>
          <a:prstGeom prst="roundRect">
            <a:avLst>
              <a:gd name="adj" fmla="val 1515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66928" y="3401568"/>
            <a:ext cx="420624" cy="420624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66928" y="3401568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1143000" y="3364992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completo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1143000" y="3621024"/>
            <a:ext cx="6217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con FormularioAlta · UPDATE con defaultValues · DELETE con confirm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7662672" y="3465576"/>
            <a:ext cx="877824" cy="237744"/>
          </a:xfrm>
          <a:prstGeom prst="roundRect">
            <a:avLst>
              <a:gd name="adj" fmla="val 23077"/>
            </a:avLst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662672" y="3465576"/>
            <a:ext cx="87782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11480" y="4023360"/>
            <a:ext cx="8321040" cy="603504"/>
          </a:xfrm>
          <a:prstGeom prst="roundRect">
            <a:avLst>
              <a:gd name="adj" fmla="val 1515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66928" y="4114800"/>
            <a:ext cx="420624" cy="420624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66928" y="411480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1143000" y="4078224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 grupal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1143000" y="4334256"/>
            <a:ext cx="6217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Zod + Formulario alta + Editar + Borrar + PR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7662672" y="4178808"/>
            <a:ext cx="877824" cy="237744"/>
          </a:xfrm>
          <a:prstGeom prst="roundRect">
            <a:avLst>
              <a:gd name="adj" fmla="val 23077"/>
            </a:avLst>
          </a:prstGeom>
          <a:solidFill>
            <a:srgbClr val="FFF7ED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662672" y="4178808"/>
            <a:ext cx="87782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2h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82128" y="128016"/>
            <a:ext cx="1170432" cy="274320"/>
          </a:xfrm>
          <a:prstGeom prst="roundRect">
            <a:avLst>
              <a:gd name="adj" fmla="val 23333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882128" y="128016"/>
            <a:ext cx="1170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 ·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046720" y="4873752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30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11480" y="128016"/>
            <a:ext cx="2211019" cy="274320"/>
          </a:xfrm>
          <a:prstGeom prst="roundRect">
            <a:avLst>
              <a:gd name="adj" fmla="val 23333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28016"/>
            <a:ext cx="221101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 · CRUD COMPLETO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512064"/>
            <a:ext cx="8321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CRUD completo — el mapa de hoy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11480" y="950976"/>
            <a:ext cx="832104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115568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existe desde Clase 5. Hoy agregamos CREATE, UPDATE y DELETE — el ciclo completo.</a:t>
            </a:r>
            <a:endParaRPr lang="en-US" sz="1300" dirty="0"/>
          </a:p>
        </p:txBody>
      </p:sp>
      <p:pic>
        <p:nvPicPr>
          <p:cNvPr id="10" name="Image 0" descr="Diagrama CRUD: Create, Read, Update, Delete con la entidad del proyect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371600"/>
            <a:ext cx="8321040" cy="35204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82128" y="128016"/>
            <a:ext cx="1170432" cy="274320"/>
          </a:xfrm>
          <a:prstGeom prst="roundRect">
            <a:avLst>
              <a:gd name="adj" fmla="val 23333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882128" y="128016"/>
            <a:ext cx="1170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 ·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046720" y="4873752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30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11480" y="128016"/>
            <a:ext cx="1836115" cy="274320"/>
          </a:xfrm>
          <a:prstGeom prst="roundRect">
            <a:avLst>
              <a:gd name="adj" fmla="val 23333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28016"/>
            <a:ext cx="18361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TEORÍA · VALIDACIÓN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512064"/>
            <a:ext cx="8321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Flujo de validación de un formulario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11480" y="950976"/>
            <a:ext cx="832104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115568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pasos desde que el usuario tipea hasta que el dato llega a la API — todos con feedback visual.</a:t>
            </a:r>
            <a:endParaRPr lang="en-US" sz="1300" dirty="0"/>
          </a:p>
        </p:txBody>
      </p:sp>
      <p:pic>
        <p:nvPicPr>
          <p:cNvPr id="10" name="Image 0" descr="Flujo completo de validación: tipear, validar, mostrar error, submit, API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371600"/>
            <a:ext cx="8321040" cy="3429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82128" y="128016"/>
            <a:ext cx="1170432" cy="274320"/>
          </a:xfrm>
          <a:prstGeom prst="roundRect">
            <a:avLst>
              <a:gd name="adj" fmla="val 23333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882128" y="128016"/>
            <a:ext cx="1170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 ·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046720" y="4873752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30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11480" y="128016"/>
            <a:ext cx="2211019" cy="274320"/>
          </a:xfrm>
          <a:prstGeom prst="roundRect">
            <a:avLst>
              <a:gd name="adj" fmla="val 23333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28016"/>
            <a:ext cx="221101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TEORÍA · REACT HOOK FORM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512064"/>
            <a:ext cx="8321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React Hook Form — por qué usarlo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11480" y="950976"/>
            <a:ext cx="832104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115568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campos = 9 useState sin RHF. Con RHF + Zod: 1 hook, sin re-renders innecesarios.</a:t>
            </a:r>
            <a:endParaRPr lang="en-US" sz="1300" dirty="0"/>
          </a:p>
        </p:txBody>
      </p:sp>
      <p:pic>
        <p:nvPicPr>
          <p:cNvPr id="10" name="Image 0" descr="Comparativa sin React Hook Form vs con RHF + Zo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371600"/>
            <a:ext cx="8321040" cy="35204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82128" y="128016"/>
            <a:ext cx="1170432" cy="274320"/>
          </a:xfrm>
          <a:prstGeom prst="roundRect">
            <a:avLst>
              <a:gd name="adj" fmla="val 23333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882128" y="128016"/>
            <a:ext cx="1170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 ·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046720" y="4873752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30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11480" y="128016"/>
            <a:ext cx="1371600" cy="274320"/>
          </a:xfrm>
          <a:prstGeom prst="roundRect">
            <a:avLst>
              <a:gd name="adj" fmla="val 23333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28016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TEORÍA · ZOD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512064"/>
            <a:ext cx="8321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Zod — validaciones declarativas tipadas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11480" y="950976"/>
            <a:ext cx="832104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115568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Zod es la librería de validación estándar en el ecosistema TypeScript — define el schema una vez, valida siempre.</a:t>
            </a:r>
            <a:endParaRPr lang="en-US" sz="1300" dirty="0"/>
          </a:p>
        </p:txBody>
      </p:sp>
      <p:pic>
        <p:nvPicPr>
          <p:cNvPr id="10" name="Image 0" descr="Validaciones Zod: string, number, enum, object y refi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371600"/>
            <a:ext cx="8321040" cy="35204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82128" y="128016"/>
            <a:ext cx="1170432" cy="274320"/>
          </a:xfrm>
          <a:prstGeom prst="roundRect">
            <a:avLst>
              <a:gd name="adj" fmla="val 23333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882128" y="128016"/>
            <a:ext cx="1170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 ·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046720" y="4873752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30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11480" y="128016"/>
            <a:ext cx="1686154" cy="274320"/>
          </a:xfrm>
          <a:prstGeom prst="roundRect">
            <a:avLst>
              <a:gd name="adj" fmla="val 23333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28016"/>
            <a:ext cx="168615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· RHF + ZOD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512064"/>
            <a:ext cx="8321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Instalar y configurar React Hook Form + Zod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11480" y="950976"/>
            <a:ext cx="832104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115568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paquetes, una instalación — listos para el proyecto en 5 minutos.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11480" y="1417320"/>
            <a:ext cx="8321040" cy="1691640"/>
          </a:xfrm>
          <a:prstGeom prst="roundRect">
            <a:avLst>
              <a:gd name="adj" fmla="val 5405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1545336"/>
            <a:ext cx="7955280" cy="1435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Instalar dependencias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npx expo install react-hook-form zod @hookform/resolvers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Verificar en package.json: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'react-hook-form': '^7.x.x'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'zod': '^3.x.x'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'@hookform/resolvers': '^3.x.x'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Para toasts de éxito/error: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npx expo install react-native-toast-message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11480" y="3246120"/>
            <a:ext cx="8321040" cy="1719072"/>
          </a:xfrm>
          <a:prstGeom prst="roundRect">
            <a:avLst>
              <a:gd name="adj" fmla="val 5319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3374136"/>
            <a:ext cx="79552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schemas/productoSchema.ts — schema del proyecto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z } from 'zod';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const productoSchema = z.object({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nombre:     z.string().min(2, 'Mínimo 2 caracteres').max(100),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precio:     z.coerce.number().positive('Debe ser mayor a 0'),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imagen:     z.string().url('URL inválida').optional().or(z.literal('')),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categoria:  z.string().min(1, 'Seleccioná una categoría'),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disponible: z.boolean().default(true),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Tipo inferido automáticamente — sin duplicar la interfaz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type ProductoForm = z.infer&lt;typeof productoSchema&gt;;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ProductoForm = { nombre: string; precio: number; imagen?: string; ... }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82128" y="128016"/>
            <a:ext cx="1170432" cy="274320"/>
          </a:xfrm>
          <a:prstGeom prst="roundRect">
            <a:avLst>
              <a:gd name="adj" fmla="val 23333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882128" y="128016"/>
            <a:ext cx="1170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 ·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046720" y="4873752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30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11480" y="128016"/>
            <a:ext cx="1836115" cy="274320"/>
          </a:xfrm>
          <a:prstGeom prst="roundRect">
            <a:avLst>
              <a:gd name="adj" fmla="val 23333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28016"/>
            <a:ext cx="18361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TEORÍA · CONTROLLER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512064"/>
            <a:ext cx="8321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Controller — conectar RHF con TextInput nativo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11480" y="950976"/>
            <a:ext cx="832104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115568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Hook Form necesita el componente Controller para conectarse con inputs no controlados nativos.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11480" y="1417320"/>
            <a:ext cx="8321040" cy="3547872"/>
          </a:xfrm>
          <a:prstGeom prst="roundRect">
            <a:avLst>
              <a:gd name="adj" fmla="val 2577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1545336"/>
            <a:ext cx="795528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useForm, Controller } from 'react-hook-form';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zodResolver }         from '@hookform/resolvers/zod';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productoSchema, ProductoForm } from '@/schemas/productoSchema';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function FormularioAlta()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control,        // pasa a cada Controller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handleSubmit,   // envuelve la función de submit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formState: { errors, isSubmitting, isValid },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 = useForm&lt;ProductoForm&gt;({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resolver: zodResolver(productoSchema),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defaultValues: { nombre: '', precio: 0, disponible: true },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mode: 'onTouched',  // validar cuando el campo pierde el foco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onSubmit = async (data: ProductoForm) =&gt;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data ya está validado y tipado por Zod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await productosService.create(data);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Toast.show({ type: 'success', text1: '¡Producto creado!' });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router.back();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&lt;KeyboardAvoidingView behavior='padding' style={{ flex: 1 }}&gt;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&lt;ScrollView&gt;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&lt;Controller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control={control}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name='nombre'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render={({ field: { onChange, onBlur, value } }) =&gt; 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&lt;View&gt;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&lt;TextInput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value={value}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onChangeText={onChange}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onBlur={onBlur}          // ← necesario para onTouched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placeholder='Nombre del producto'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style={[styles.input, errors.nombre &amp;&amp; styles.inputError]}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/&gt;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{errors.nombre &amp;&amp; 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&lt;Text style={styles.error}&gt;{errors.nombre.message}&lt;/Text&gt;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)}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&lt;/View&gt;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)}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/&gt;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{/* más Controller por cada campo */}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&lt;/ScrollView&gt;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&lt;/KeyboardAvoidingView&gt;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82128" y="128016"/>
            <a:ext cx="1170432" cy="274320"/>
          </a:xfrm>
          <a:prstGeom prst="roundRect">
            <a:avLst>
              <a:gd name="adj" fmla="val 23333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882128" y="128016"/>
            <a:ext cx="1170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 ·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046720" y="4873752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30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11480" y="128016"/>
            <a:ext cx="1986077" cy="274320"/>
          </a:xfrm>
          <a:prstGeom prst="roundRect">
            <a:avLst>
              <a:gd name="adj" fmla="val 23333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28016"/>
            <a:ext cx="1986077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PRÁCTICA · INPUTFIELD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512064"/>
            <a:ext cx="8321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Componente InputField reutilizable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11480" y="950976"/>
            <a:ext cx="832104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115568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Encapsular Controller + TextInput + error en un componente — evitar repetición en el formulario.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11480" y="1417320"/>
            <a:ext cx="5166360" cy="3547872"/>
          </a:xfrm>
          <a:prstGeom prst="roundRect">
            <a:avLst>
              <a:gd name="adj" fmla="val 2577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1545336"/>
            <a:ext cx="480060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components/ui/InputField.tsx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Control, Controller, FieldPath, FieldValues } from 'react-hook-form';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interface InputFieldProps&lt;T extends FieldValues&gt;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control:     Control&lt;T&gt;;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name:        FieldPath&lt;T&gt;;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label:       string;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placeholder?: string;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keyboardType?: TextInputProps['keyboardType'];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secureTextEntry?: boolean;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multiline?:  boolean;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function InputField&lt;T extends FieldValues&gt;({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control, name, label, placeholder, keyboardType = 'default',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secureTextEntry, multiline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}: InputFieldProps&lt;T&gt;)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&lt;Controller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control={control}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name={name}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render={({ field: { onChange, onBlur, value }, fieldState: { error } }) =&gt; 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&lt;View style={styles.wrapper}&gt;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&lt;Text style={styles.label}&gt;{label}&lt;/Text&gt;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&lt;TextInput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value={String(value ?? '')}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onChangeText={onChange}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onBlur={onBlur}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placeholder={placeholder}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keyboardType={keyboardType}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secureTextEntry={secureTextEntry}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multiline={multiline}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style={[styles.input, error &amp;&amp; styles.inputError]}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/&gt;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{error &amp;&amp; &lt;Text style={styles.errorTxt}&gt;{error.message}&lt;/Text&gt;}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&lt;/View&gt;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)}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715000" y="1417320"/>
            <a:ext cx="3017520" cy="3547872"/>
          </a:xfrm>
          <a:prstGeom prst="roundRect">
            <a:avLst>
              <a:gd name="adj" fmla="val 3030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897880" y="1545336"/>
            <a:ext cx="265176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Uso limpio en el formulario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&lt;InputField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control={control}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name='nombre'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label='Nombre'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placeholder='Ej: Auriculares BT'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&lt;InputField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control={control}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name='precio'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label='Precio ($)'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keyboardType='numeric'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&lt;InputField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control={control}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name='imagen'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label='URL de imagen'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keyboardType='url'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&lt;InputField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control={control}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name='descripcion'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label='Descripción'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multiline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/&gt;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82128" y="128016"/>
            <a:ext cx="1170432" cy="274320"/>
          </a:xfrm>
          <a:prstGeom prst="roundRect">
            <a:avLst>
              <a:gd name="adj" fmla="val 23333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882128" y="128016"/>
            <a:ext cx="1170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 ·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046720" y="4873752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30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11480" y="128016"/>
            <a:ext cx="2510942" cy="274320"/>
          </a:xfrm>
          <a:prstGeom prst="roundRect">
            <a:avLst>
              <a:gd name="adj" fmla="val 23333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28016"/>
            <a:ext cx="251094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TEORÍA · TEXTINPUT Y TECLADO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512064"/>
            <a:ext cx="8321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TextInput — tipos de teclado y opciones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11480" y="950976"/>
            <a:ext cx="832104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115568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Configurar el teclado correcto mejora la UX — el usuario no tiene que cambiar de modo para tipear.</a:t>
            </a:r>
            <a:endParaRPr lang="en-US" sz="1300" dirty="0"/>
          </a:p>
        </p:txBody>
      </p:sp>
      <p:pic>
        <p:nvPicPr>
          <p:cNvPr id="10" name="Image 0" descr="Tipos de teclado TextInput y patrón de encadenamiento de campo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371600"/>
            <a:ext cx="8321040" cy="3429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82128" y="128016"/>
            <a:ext cx="1170432" cy="274320"/>
          </a:xfrm>
          <a:prstGeom prst="roundRect">
            <a:avLst>
              <a:gd name="adj" fmla="val 23333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882128" y="128016"/>
            <a:ext cx="1170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 ·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046720" y="4873752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30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11480" y="128016"/>
            <a:ext cx="2585923" cy="274320"/>
          </a:xfrm>
          <a:prstGeom prst="roundRect">
            <a:avLst>
              <a:gd name="adj" fmla="val 23333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28016"/>
            <a:ext cx="2585923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TEORÍA · KEYBOARDAVOIDINGVIEW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512064"/>
            <a:ext cx="8321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KeyboardAvoidingView — el campo siempre visible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11480" y="950976"/>
            <a:ext cx="832104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115568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este componente el teclado tapa los campos. Con él, el formulario sube automáticamente.</a:t>
            </a:r>
            <a:endParaRPr lang="en-US" sz="1300" dirty="0"/>
          </a:p>
        </p:txBody>
      </p:sp>
      <p:pic>
        <p:nvPicPr>
          <p:cNvPr id="10" name="Image 0" descr="Comparativa sin KeyboardAvoidingView vs con KeyboardAvoidingView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371600"/>
            <a:ext cx="8321040" cy="3310128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411480" y="4736592"/>
            <a:ext cx="8321040" cy="621792"/>
          </a:xfrm>
          <a:prstGeom prst="roundRect">
            <a:avLst>
              <a:gd name="adj" fmla="val 14706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94360" y="4864608"/>
            <a:ext cx="79552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Wrapper correcto para formularios — comportamiento distinto iOS vs Android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&lt;KeyboardAvoidingView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behavior={Platform.OS === 'ios' ? 'padding' : 'height'}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style={{ flex: 1 }}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&lt;ScrollView keyboardShouldPersistTaps='handled'&gt;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{/* campos del formulario */}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&lt;/ScrollView&gt;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&lt;/KeyboardAvoidingView&gt;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82128" y="128016"/>
            <a:ext cx="1170432" cy="274320"/>
          </a:xfrm>
          <a:prstGeom prst="roundRect">
            <a:avLst>
              <a:gd name="adj" fmla="val 23333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882128" y="128016"/>
            <a:ext cx="1170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 ·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046720" y="4873752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30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11480" y="128016"/>
            <a:ext cx="2286000" cy="274320"/>
          </a:xfrm>
          <a:prstGeom prst="roundRect">
            <a:avLst>
              <a:gd name="adj" fmla="val 23333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28016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PRÁCTICA · FORMULARIOALTA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512064"/>
            <a:ext cx="8321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FormularioAlta — pantalla completa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11480" y="950976"/>
            <a:ext cx="832104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115568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pantalla de alta del proyecto. Usa InputField, maneja submit y navega de vuelta.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11480" y="1417320"/>
            <a:ext cx="8321040" cy="3547872"/>
          </a:xfrm>
          <a:prstGeom prst="roundRect">
            <a:avLst>
              <a:gd name="adj" fmla="val 2577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1545336"/>
            <a:ext cx="795528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app/nuevo.tsx  — pantalla accesible desde HomeScreen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useForm } from 'react-hook-form';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zodResolver } from '@hookform/resolvers/zod';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KeyboardAvoidingView, ScrollView,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TouchableOpacity, Text, Platform } from 'react-native';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Stack, useRouter } from 'expo-router';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Toast from 'react-native-toast-message';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InputField } from '@/components/ui/InputField';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productoSchema, ProductoForm } from '@/schemas/productoSchema';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productosService } from '@/services/productosService';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default function NuevoProductoScreen()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router = useRouter();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{ control, handleSubmit,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formState: { errors, isSubmitting, isValid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 = useForm&lt;ProductoForm&gt;({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resolver:      zodResolver(productoSchema),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defaultValues: { nombre:'', precio:0, disponible:true },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mode:          'onTouched',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onSubmit = async (data: ProductoForm) =&gt;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try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await productosService.create(data);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Toast.show({ type:'success', text1:'¡Producto creado!' });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router.back();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 catch (err: any)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Toast.show({ type:'error', text1:'Error al guardar', text2: err.message });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&lt;Stack.Screen options={{ title: 'Nuevo producto' }} /&gt;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&lt;KeyboardAvoidingView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behavior={Platform.OS === 'ios' ? 'padding' : 'height'}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style={{ flex: 1 }}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&lt;ScrollView contentContainerStyle={styles.form}&gt;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&lt;InputField control={control} name='nombre' label='Nombre' /&gt;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&lt;InputField control={control} name='precio' label='Precio ($)'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keyboardType='numeric' /&gt;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&lt;InputField control={control} name='imagen' label='URL imagen'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keyboardType='url' /&gt;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&lt;TouchableOpacity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onPress={handleSubmit(onSubmit)}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disabled={isSubmitting || !isValid}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style={[styles.btn, (isSubmitting||!isValid) &amp;&amp; styles.btnDisabled]}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&lt;Text style={styles.btnTxt}&gt;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{isSubmitting ? 'Guardando...' : 'Crear producto'}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&lt;/Text&gt;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&lt;/TouchableOpacity&gt;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&lt;/ScrollView&gt;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&lt;/KeyboardAvoidingView&gt;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&lt;/&gt;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82128" y="128016"/>
            <a:ext cx="1170432" cy="274320"/>
          </a:xfrm>
          <a:prstGeom prst="roundRect">
            <a:avLst>
              <a:gd name="adj" fmla="val 23333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882128" y="128016"/>
            <a:ext cx="1170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 ·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046720" y="4873752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30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11480" y="128016"/>
            <a:ext cx="2360981" cy="274320"/>
          </a:xfrm>
          <a:prstGeom prst="roundRect">
            <a:avLst>
              <a:gd name="adj" fmla="val 23333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28016"/>
            <a:ext cx="236098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PRÁCTICA · BOTÓN + DE ALTA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512064"/>
            <a:ext cx="8321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Botón + en el Header para crear nuevo ítem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11480" y="950976"/>
            <a:ext cx="832104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115568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acceso al formulario de alta va en el header de la pantalla principal — patrón estándar en mobile.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11480" y="1417320"/>
            <a:ext cx="8321040" cy="3547872"/>
          </a:xfrm>
          <a:prstGeom prst="roundRect">
            <a:avLst>
              <a:gd name="adj" fmla="val 2577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1545336"/>
            <a:ext cx="795528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app/(tabs)/index.tsx — HomeScreen actualizada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useRouter, Stack } from 'expo-router';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TouchableOpacity } from 'react-native';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Ionicons } from '@expo/vector-icons';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Colors } from '@/constants/theme';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default function HomeScreen()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router = useRouter();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{ productos, cargando, error, refrescar } = useProductos();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&lt;Stack.Screen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options={{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title: 'Productos',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headerRight: () =&gt; 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&lt;TouchableOpacity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onPress={() =&gt; router.push('/nuevo')}  // ← nueva pantalla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style={{ marginRight: 16 }}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&lt;Ionicons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name='add-circle-outline'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size={28}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color={Colors.primary}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/&gt;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&lt;/TouchableOpacity&gt;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/&gt;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{/* FlatList de productos */}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&lt;/&gt;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También en app.json — agregar la ruta 'nuevo' si no está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app/nuevo.tsx ya es accesible con /nuevo en Expo Router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82128" y="128016"/>
            <a:ext cx="1170432" cy="274320"/>
          </a:xfrm>
          <a:prstGeom prst="roundRect">
            <a:avLst>
              <a:gd name="adj" fmla="val 23333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882128" y="128016"/>
            <a:ext cx="1170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 ·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046720" y="4873752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30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11480" y="128016"/>
            <a:ext cx="2435962" cy="274320"/>
          </a:xfrm>
          <a:prstGeom prst="roundRect">
            <a:avLst>
              <a:gd name="adj" fmla="val 23333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28016"/>
            <a:ext cx="243596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PRÁCTICA · FORMULARIOEDITAR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512064"/>
            <a:ext cx="8321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FormularioEditar — defaultValues desde la API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11480" y="950976"/>
            <a:ext cx="832104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115568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formulario de edición reutiliza el mismo schema. La diferencia clave: defaultValues con los datos del ítem.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11480" y="1417320"/>
            <a:ext cx="5120640" cy="3547872"/>
          </a:xfrm>
          <a:prstGeom prst="roundRect">
            <a:avLst>
              <a:gd name="adj" fmla="val 2577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1545336"/>
            <a:ext cx="475488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app/editar/[id].tsx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default function EditarProductoScreen()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{ id } = useLocalSearchParams&lt;{ id: string }&gt;();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{ producto, cargando } = useProductoById(id);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router = useRouter();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{ control, handleSubmit, reset,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formState: { errors, isSubmitting, isDirty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 = useForm&lt;ProductoForm&gt;({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resolver:      zodResolver(productoSchema),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defaultValues: { nombre:'', precio:0, disponible:true },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Rellenar el formulario cuando cargue el producto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useEffect(() =&gt;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(producto)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reset({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nombre:     producto.nombre,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precio:     producto.precio,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imagen:     producto.imagen ?? '',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disponible: producto.disponible,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});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}, [producto, reset]);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onSubmit = async (data: ProductoForm) =&gt;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await productosService.update(id, data);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Toast.show({ type:'success', text1:'¡Producto actualizado!' });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router.back();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(cargando) return &lt;SkeletonCard /&gt;;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&lt;Stack.Screen options={{ title: 'Editar producto' }} /&gt;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{/* mismos InputField que el FormularioAlta */}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&lt;TouchableOpacity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onPress={handleSubmit(onSubmit)}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disabled={isSubmitting || !isDirty}  // ← solo si hubo cambios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style={styles.btn}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&lt;Text&gt;{isSubmitting ? 'Guardando...' : 'Guardar cambios'}&lt;/Text&gt;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&lt;/TouchableOpacity&gt;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&lt;/&gt;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715000" y="1417320"/>
            <a:ext cx="3017520" cy="1078992"/>
          </a:xfrm>
          <a:prstGeom prst="roundRect">
            <a:avLst>
              <a:gd name="adj" fmla="val 8475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852160" y="1508760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reset() es la clave del edit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852160" y="1783080"/>
            <a:ext cx="2743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reset({ ...producto }) rellena todos los campos del formulario con los valores actuales del ítem.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715000" y="2624328"/>
            <a:ext cx="3017520" cy="1078992"/>
          </a:xfrm>
          <a:prstGeom prst="roundRect">
            <a:avLst>
              <a:gd name="adj" fmla="val 8475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852160" y="2715768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isDirty — solo si hubo cambios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852160" y="2990088"/>
            <a:ext cx="2743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botón Guardar se deshabilita si el usuario no modificó nada. Evita PUT innecesarios.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715000" y="3831336"/>
            <a:ext cx="3017520" cy="1078992"/>
          </a:xfrm>
          <a:prstGeom prst="roundRect">
            <a:avLst>
              <a:gd name="adj" fmla="val 847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852160" y="3922776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useEffect([producto, reset])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852160" y="4197096"/>
            <a:ext cx="2743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effect se ejecuta cuando el producto carga — no antes. reset en las deps evita loops.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82128" y="128016"/>
            <a:ext cx="1170432" cy="274320"/>
          </a:xfrm>
          <a:prstGeom prst="roundRect">
            <a:avLst>
              <a:gd name="adj" fmla="val 23333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882128" y="128016"/>
            <a:ext cx="1170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 ·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046720" y="4873752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30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11480" y="128016"/>
            <a:ext cx="2510942" cy="274320"/>
          </a:xfrm>
          <a:prstGeom prst="roundRect">
            <a:avLst>
              <a:gd name="adj" fmla="val 23333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28016"/>
            <a:ext cx="251094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PRÁCTICA · UPDATE EN SERVICE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512064"/>
            <a:ext cx="8321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Agregar update y delete al service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11480" y="950976"/>
            <a:ext cx="832104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115568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Completar productosService.ts con las operaciones de escritura — PUT y DELETE.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11480" y="1417320"/>
            <a:ext cx="8321040" cy="3547872"/>
          </a:xfrm>
          <a:prstGeom prst="roundRect">
            <a:avLst>
              <a:gd name="adj" fmla="val 2577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1545336"/>
            <a:ext cx="795528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services/productosService.ts — ACTUALIZADO con update y delete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api } from './api';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Producto } from '@/types';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ProductoForm } from '@/schemas/productoSchema';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const productosService =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...getAll y getById ya existen desde Clase 5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create: async (data: ProductoForm): Promise&lt;Producto&gt; =&gt;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{ data: res } = await api.post&lt;Producto&gt;('/productos', data);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res;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},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update: async (id: string, data: ProductoForm): Promise&lt;Producto&gt; =&gt;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{ data: res } = await api.put&lt;Producto&gt;(`/productos/${id}`, data);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res;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},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delete: async (id: string): Promise&lt;void&gt; =&gt;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await api.delete(`/productos/${id}`);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Para Firebase / Firestore: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doc, updateDoc, deleteDoc } from 'firebase/firestore';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update: async (id, data) =&gt;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updateDoc(doc(db, 'productos', id), data),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delete: async (id) =&gt;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deleteDoc(doc(db, 'productos', id)),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82128" y="128016"/>
            <a:ext cx="1170432" cy="274320"/>
          </a:xfrm>
          <a:prstGeom prst="roundRect">
            <a:avLst>
              <a:gd name="adj" fmla="val 23333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882128" y="128016"/>
            <a:ext cx="1170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 ·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046720" y="4873752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30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11480" y="128016"/>
            <a:ext cx="2960827" cy="274320"/>
          </a:xfrm>
          <a:prstGeom prst="roundRect">
            <a:avLst>
              <a:gd name="adj" fmla="val 23333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28016"/>
            <a:ext cx="2960827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PRÁCTICA · DELETE CON CONFIRMACIÓN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512064"/>
            <a:ext cx="8321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DELETE — confirmación y feedback correcto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11480" y="950976"/>
            <a:ext cx="832104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115568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Nunca borrar sin confirmar. Alert.alert nativo da una UX consistente con iOS y Android.</a:t>
            </a:r>
            <a:endParaRPr lang="en-US" sz="1300" dirty="0"/>
          </a:p>
        </p:txBody>
      </p:sp>
      <p:pic>
        <p:nvPicPr>
          <p:cNvPr id="10" name="Image 0" descr="Flujo de eliminación con Alert confirm, llamada a API y feedba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371600"/>
            <a:ext cx="8321040" cy="3401568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82128" y="128016"/>
            <a:ext cx="1170432" cy="274320"/>
          </a:xfrm>
          <a:prstGeom prst="roundRect">
            <a:avLst>
              <a:gd name="adj" fmla="val 23333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882128" y="128016"/>
            <a:ext cx="1170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 ·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046720" y="4873752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30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11480" y="128016"/>
            <a:ext cx="2960827" cy="274320"/>
          </a:xfrm>
          <a:prstGeom prst="roundRect">
            <a:avLst>
              <a:gd name="adj" fmla="val 23333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28016"/>
            <a:ext cx="2960827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PRÁCTICA · DELETE EN DETALLESCREEN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512064"/>
            <a:ext cx="8321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Delete en la pantalla de detalle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11480" y="950976"/>
            <a:ext cx="832104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115568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botón Eliminar va en el header derecho o al final del contenido — con Alert.alert de confirmación.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11480" y="1417320"/>
            <a:ext cx="8321040" cy="3547872"/>
          </a:xfrm>
          <a:prstGeom prst="roundRect">
            <a:avLst>
              <a:gd name="adj" fmla="val 2577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1545336"/>
            <a:ext cx="795528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app/detalle/[id].tsx — actualizado con editar y eliminar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Alert } from 'react-native';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Ionicons } from '@expo/vector-icons';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default function DetalleScreen()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{ id }   = useLocalSearchParams&lt;{id:string}&gt;();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{ producto, cargando } = useProductoById(id);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router = useRouter();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[eliminando, setEliminando] = useState(false);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confirmarEliminar = () =&gt;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Alert.alert(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'¿Eliminar producto?',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'Esta acción no se puede deshacer.',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[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{ text: 'Cancelar', style: 'cancel' },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text: 'Eliminar',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style: 'destructive',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onPress: handleEliminar,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handleEliminar = async () =&gt;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try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setEliminando(true);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await productosService.delete(id);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Toast.show({ type: 'success', text1: '¡Eliminado!' });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router.back();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 catch (err: any)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Toast.show({ type:'error', text1:'Error al eliminar', text2:err.message });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 finally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setEliminando(false);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&lt;Stack.Screen options={{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title: producto?.nombre ?? 'Detalle',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headerRight: () =&gt; 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&lt;View style={{ flexDirection:'row', gap:12 }}&gt;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&lt;TouchableOpacity onPress={() =&gt; router.push(`/editar/${id}`)}&gt;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&lt;Ionicons name='pencil-outline' size={22} color={Colors.primary} /&gt;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&lt;/TouchableOpacity&gt;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&lt;TouchableOpacity onPress={confirmarEliminar} disabled={eliminando}&gt;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&lt;Ionicons name='trash-outline' size={22} color={Colors.danger} /&gt;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&lt;/TouchableOpacity&gt;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&lt;/View&gt;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}} /&gt;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{/* contenido del detalle */}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&lt;/&gt;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82128" y="128016"/>
            <a:ext cx="1170432" cy="274320"/>
          </a:xfrm>
          <a:prstGeom prst="roundRect">
            <a:avLst>
              <a:gd name="adj" fmla="val 23333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882128" y="128016"/>
            <a:ext cx="1170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 ·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046720" y="4873752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30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11480" y="128016"/>
            <a:ext cx="1836115" cy="274320"/>
          </a:xfrm>
          <a:prstGeom prst="roundRect">
            <a:avLst>
              <a:gd name="adj" fmla="val 23333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28016"/>
            <a:ext cx="18361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UX · TOAST MESSAGES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512064"/>
            <a:ext cx="8321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Toasts — feedback visual de acciones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11480" y="950976"/>
            <a:ext cx="832104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115568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react-native-toast-message da feedback inmediato sin bloquear la UI con un Alert.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11480" y="1417320"/>
            <a:ext cx="5029200" cy="1298448"/>
          </a:xfrm>
          <a:prstGeom prst="roundRect">
            <a:avLst>
              <a:gd name="adj" fmla="val 7042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1545336"/>
            <a:ext cx="4663440" cy="10424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app/_layout.tsx — agregar Toast al layout raíz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Toast from 'react-native-toast-message';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default function RootLayout()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&lt;Stack&gt;{/* ... */}&lt;/Stack&gt;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&lt;Toast /&gt;  {/* ← al final, fuera del Stack */}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&lt;/&gt;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11480" y="2834640"/>
            <a:ext cx="5029200" cy="2148840"/>
          </a:xfrm>
          <a:prstGeom prst="roundRect">
            <a:avLst>
              <a:gd name="adj" fmla="val 4255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2962656"/>
            <a:ext cx="4663440" cy="1892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Uso en cualquier pantalla o hook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Toast from 'react-native-toast-message';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Éxito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Toast.show({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type:  'success',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text1: '¡Producto creado!',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text2: 'Se guardó correctamente.',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Error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Toast.show({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type:  'error',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text1: 'Error al guardar',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text2: err.message,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Info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Toast.show({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type:   'info',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text1:  'Sin cambios',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text2:  'El formulario no tiene modificaciones.',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623560" y="1417320"/>
            <a:ext cx="3108960" cy="777240"/>
          </a:xfrm>
          <a:prstGeom prst="roundRect">
            <a:avLst>
              <a:gd name="adj" fmla="val 11765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760720" y="1490472"/>
            <a:ext cx="2834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&lt;Toast /&gt; al final del layout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760720" y="1728216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Debe estar fuera del Stack Navigator para aparecer encima de todas las pantallas.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623560" y="2313432"/>
            <a:ext cx="3108960" cy="777240"/>
          </a:xfrm>
          <a:prstGeom prst="roundRect">
            <a:avLst>
              <a:gd name="adj" fmla="val 11765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760720" y="2386584"/>
            <a:ext cx="2834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text1 + text2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760720" y="2624328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Título del toast en text1. Descripción opcional en text2. Máximo 2 líneas.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623560" y="3209544"/>
            <a:ext cx="3108960" cy="777240"/>
          </a:xfrm>
          <a:prstGeom prst="roundRect">
            <a:avLst>
              <a:gd name="adj" fmla="val 11765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760720" y="3282696"/>
            <a:ext cx="2834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dismiss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760720" y="352044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defecto desaparece a los 4 segundos. Configurable con visibilityTime.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623560" y="4105656"/>
            <a:ext cx="3108960" cy="777240"/>
          </a:xfrm>
          <a:prstGeom prst="roundRect">
            <a:avLst>
              <a:gd name="adj" fmla="val 11765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760720" y="4178808"/>
            <a:ext cx="2834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Alternativa: expo-haptics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760720" y="4416552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Combinar el toast con un vibrate feedback táctil para acción éxito/error.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82128" y="128016"/>
            <a:ext cx="1170432" cy="274320"/>
          </a:xfrm>
          <a:prstGeom prst="roundRect">
            <a:avLst>
              <a:gd name="adj" fmla="val 23333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882128" y="128016"/>
            <a:ext cx="1170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 ·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046720" y="4873752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30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11480" y="128016"/>
            <a:ext cx="1911096" cy="274320"/>
          </a:xfrm>
          <a:prstGeom prst="roundRect">
            <a:avLst>
              <a:gd name="adj" fmla="val 23333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28016"/>
            <a:ext cx="19110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 · CLASE 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512064"/>
            <a:ext cx="8321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Estructura de archivos — Clase 6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11480" y="950976"/>
            <a:ext cx="832104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115568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Archivos nuevos y actualizados en esta clase.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11480" y="1417320"/>
            <a:ext cx="5166360" cy="2971800"/>
          </a:xfrm>
          <a:prstGeom prst="roundRect">
            <a:avLst>
              <a:gd name="adj" fmla="val 3077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1545336"/>
            <a:ext cx="4800600" cy="2715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mi-app/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├── app/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│   ├── _layout.tsx            ← ACTUALIZADO: &lt;Toast /&gt; al final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│   ├── nuevo.tsx              ← NUEVO: FormularioAlta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│   ├── editar/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│   │   └── [id].tsx           ← NUEVO: FormularioEditar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│   └── detalle/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│       └── [id].tsx           ← ACTUALIZADO: botones editar y eliminar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├── schemas/                   ← NUEVO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│   └── productoSchema.ts      ← z.object() con reglas del proyecto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├── components/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│   └── ui/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│       └── InputField.tsx     ← NUEVO: Controller + TextInput + error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└── services/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└── productosService.ts    ← ACTUALIZADO: +create +update +delete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760720" y="1417320"/>
            <a:ext cx="2944368" cy="2971800"/>
          </a:xfrm>
          <a:prstGeom prst="roundRect">
            <a:avLst>
              <a:gd name="adj" fmla="val 3106"/>
            </a:avLst>
          </a:prstGeom>
          <a:solidFill>
            <a:srgbClr val="FEF3C7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897880" y="1536192"/>
            <a:ext cx="26700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 de CRUD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897880" y="1938528"/>
            <a:ext cx="256032" cy="237744"/>
          </a:xfrm>
          <a:prstGeom prst="roundRect">
            <a:avLst>
              <a:gd name="adj" fmla="val 15385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897880" y="1938528"/>
            <a:ext cx="2560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✓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6236208" y="1956816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productoSchema.ts con Zod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897880" y="2258568"/>
            <a:ext cx="256032" cy="237744"/>
          </a:xfrm>
          <a:prstGeom prst="roundRect">
            <a:avLst>
              <a:gd name="adj" fmla="val 15385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897880" y="2258568"/>
            <a:ext cx="2560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✓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6236208" y="2276856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InputField reutilizable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897880" y="2578608"/>
            <a:ext cx="256032" cy="237744"/>
          </a:xfrm>
          <a:prstGeom prst="roundRect">
            <a:avLst>
              <a:gd name="adj" fmla="val 15385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897880" y="2578608"/>
            <a:ext cx="2560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✓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6236208" y="2596896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FormularioAlta funcionando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897880" y="2898648"/>
            <a:ext cx="256032" cy="237744"/>
          </a:xfrm>
          <a:prstGeom prst="roundRect">
            <a:avLst>
              <a:gd name="adj" fmla="val 15385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897880" y="2898648"/>
            <a:ext cx="2560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✓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6236208" y="2916936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FormularioEditar con reset()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897880" y="3218688"/>
            <a:ext cx="256032" cy="237744"/>
          </a:xfrm>
          <a:prstGeom prst="roundRect">
            <a:avLst>
              <a:gd name="adj" fmla="val 15385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897880" y="3218688"/>
            <a:ext cx="2560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✓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6236208" y="3236976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productosService.create()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897880" y="3538728"/>
            <a:ext cx="256032" cy="237744"/>
          </a:xfrm>
          <a:prstGeom prst="roundRect">
            <a:avLst>
              <a:gd name="adj" fmla="val 15385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897880" y="3538728"/>
            <a:ext cx="2560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✓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6236208" y="3557016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productosService.update()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5897880" y="3858768"/>
            <a:ext cx="256032" cy="237744"/>
          </a:xfrm>
          <a:prstGeom prst="roundRect">
            <a:avLst>
              <a:gd name="adj" fmla="val 15385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897880" y="3858768"/>
            <a:ext cx="2560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✓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6236208" y="3877056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productosService.delete()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5897880" y="4178808"/>
            <a:ext cx="256032" cy="237744"/>
          </a:xfrm>
          <a:prstGeom prst="roundRect">
            <a:avLst>
              <a:gd name="adj" fmla="val 15385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897880" y="4178808"/>
            <a:ext cx="2560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✓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6236208" y="4197096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Alert.alert con confirm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5897880" y="4498848"/>
            <a:ext cx="256032" cy="237744"/>
          </a:xfrm>
          <a:prstGeom prst="roundRect">
            <a:avLst>
              <a:gd name="adj" fmla="val 15385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897880" y="4498848"/>
            <a:ext cx="2560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✓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6236208" y="4517136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Toast de éxito y error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5897880" y="4818888"/>
            <a:ext cx="256032" cy="237744"/>
          </a:xfrm>
          <a:prstGeom prst="roundRect">
            <a:avLst>
              <a:gd name="adj" fmla="val 15385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897880" y="4818888"/>
            <a:ext cx="2560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✓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6236208" y="4837176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Botón + en HomeScreen header</a:t>
            </a:r>
            <a:endParaRPr lang="en-US" sz="10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82128" y="128016"/>
            <a:ext cx="1170432" cy="274320"/>
          </a:xfrm>
          <a:prstGeom prst="roundRect">
            <a:avLst>
              <a:gd name="adj" fmla="val 23333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882128" y="128016"/>
            <a:ext cx="1170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 ·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046720" y="4873752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30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11480" y="128016"/>
            <a:ext cx="2510942" cy="274320"/>
          </a:xfrm>
          <a:prstGeom prst="roundRect">
            <a:avLst>
              <a:gd name="adj" fmla="val 23333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28016"/>
            <a:ext cx="251094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PRACTICES · FORMULARIOS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512064"/>
            <a:ext cx="8321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Buenas prácticas de formularios en mobile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11480" y="950976"/>
            <a:ext cx="832104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115568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errores más comunes que degradan la UX en formularios mobile.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11480" y="1417320"/>
            <a:ext cx="8321040" cy="777240"/>
          </a:xfrm>
          <a:prstGeom prst="roundRect">
            <a:avLst>
              <a:gd name="adj" fmla="val 11765"/>
            </a:avLst>
          </a:prstGeom>
          <a:solidFill>
            <a:srgbClr val="FFF7ED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30352" y="1490472"/>
            <a:ext cx="438912" cy="182880"/>
          </a:xfrm>
          <a:prstGeom prst="roundRect">
            <a:avLst>
              <a:gd name="adj" fmla="val 20000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0352" y="1490472"/>
            <a:ext cx="43891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✗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060704" y="1472184"/>
            <a:ext cx="6583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34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Validar solo al presionar Submit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30352" y="1728216"/>
            <a:ext cx="438912" cy="182880"/>
          </a:xfrm>
          <a:prstGeom prst="roundRect">
            <a:avLst>
              <a:gd name="adj" fmla="val 20000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0352" y="1728216"/>
            <a:ext cx="43891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060704" y="1709928"/>
            <a:ext cx="6583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52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mode: 'onTouched' — validar cuando el campo pierde el foco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060704" y="1938528"/>
            <a:ext cx="6583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usuario descubre errores mientras completa el formulario, no al final.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11480" y="2304288"/>
            <a:ext cx="8321040" cy="777240"/>
          </a:xfrm>
          <a:prstGeom prst="roundRect">
            <a:avLst>
              <a:gd name="adj" fmla="val 11765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30352" y="2377440"/>
            <a:ext cx="438912" cy="182880"/>
          </a:xfrm>
          <a:prstGeom prst="roundRect">
            <a:avLst>
              <a:gd name="adj" fmla="val 20000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0352" y="2377440"/>
            <a:ext cx="43891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✗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060704" y="2359152"/>
            <a:ext cx="6583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34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 useState por campo + validación manual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30352" y="2615184"/>
            <a:ext cx="438912" cy="182880"/>
          </a:xfrm>
          <a:prstGeom prst="roundRect">
            <a:avLst>
              <a:gd name="adj" fmla="val 20000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30352" y="2615184"/>
            <a:ext cx="43891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060704" y="2596896"/>
            <a:ext cx="6583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52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useForm({ resolver: zodResolver(schema) }) — todo en un hook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1060704" y="2825496"/>
            <a:ext cx="6583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Menos código, sin re-renders innecesarios, tipado automático con Zod.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11480" y="3191256"/>
            <a:ext cx="8321040" cy="777240"/>
          </a:xfrm>
          <a:prstGeom prst="roundRect">
            <a:avLst>
              <a:gd name="adj" fmla="val 11765"/>
            </a:avLst>
          </a:prstGeom>
          <a:solidFill>
            <a:srgbClr val="FFF7ED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30352" y="3264408"/>
            <a:ext cx="438912" cy="182880"/>
          </a:xfrm>
          <a:prstGeom prst="roundRect">
            <a:avLst>
              <a:gd name="adj" fmla="val 20000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30352" y="3264408"/>
            <a:ext cx="43891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✗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060704" y="3246120"/>
            <a:ext cx="6583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34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Botón Submit siempre habilitado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530352" y="3502152"/>
            <a:ext cx="438912" cy="182880"/>
          </a:xfrm>
          <a:prstGeom prst="roundRect">
            <a:avLst>
              <a:gd name="adj" fmla="val 20000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30352" y="3502152"/>
            <a:ext cx="43891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060704" y="3483864"/>
            <a:ext cx="6583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52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disabled={isSubmitting || !isValid} — deshabilitar si hay errores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1060704" y="3712464"/>
            <a:ext cx="6583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Evita doble submit y hace obvia la razón por la que no se puede enviar.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11480" y="4078224"/>
            <a:ext cx="8321040" cy="777240"/>
          </a:xfrm>
          <a:prstGeom prst="roundRect">
            <a:avLst>
              <a:gd name="adj" fmla="val 11765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30352" y="4151376"/>
            <a:ext cx="438912" cy="182880"/>
          </a:xfrm>
          <a:prstGeom prst="roundRect">
            <a:avLst>
              <a:gd name="adj" fmla="val 20000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30352" y="4151376"/>
            <a:ext cx="43891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✗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1060704" y="4133088"/>
            <a:ext cx="6583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34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Sin KeyboardAvoidingView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530352" y="4389120"/>
            <a:ext cx="438912" cy="182880"/>
          </a:xfrm>
          <a:prstGeom prst="roundRect">
            <a:avLst>
              <a:gd name="adj" fmla="val 20000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30352" y="4389120"/>
            <a:ext cx="43891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1060704" y="4370832"/>
            <a:ext cx="6583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52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Envolver en KeyboardAvoidingView + ScrollView siempre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1060704" y="4599432"/>
            <a:ext cx="6583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teclado tapa el campo activo en la mayoría de los dispositivos.</a:t>
            </a:r>
            <a:endParaRPr lang="en-US" sz="9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522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128016"/>
            <a:ext cx="2286000" cy="292608"/>
          </a:xfrm>
          <a:prstGeom prst="roundRect">
            <a:avLst>
              <a:gd name="adj" fmla="val 21875"/>
            </a:avLst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28016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 GRUPAL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11480" y="566928"/>
            <a:ext cx="8229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2h · CRUD completo del proyecto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11480" y="932688"/>
            <a:ext cx="822960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Crear · Editar · Borrar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 validación real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411480" y="2121408"/>
            <a:ext cx="4023360" cy="1325880"/>
          </a:xfrm>
          <a:prstGeom prst="roundRect">
            <a:avLst>
              <a:gd name="adj" fmla="val 6897"/>
            </a:avLst>
          </a:prstGeom>
          <a:solidFill>
            <a:srgbClr val="1B3358"/>
          </a:solidFill>
          <a:ln w="9525">
            <a:solidFill>
              <a:srgbClr val="16A34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6072" y="2505456"/>
            <a:ext cx="457200" cy="45720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76072" y="250545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88720" y="2249424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Zod schemas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88720" y="2560320"/>
            <a:ext cx="309067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Definir productoSchema (o la entidad del proyecto) en schemas/. Ejecutar zod.parse() en consola para verificar.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645152" y="2121408"/>
            <a:ext cx="4023360" cy="1325880"/>
          </a:xfrm>
          <a:prstGeom prst="roundRect">
            <a:avLst>
              <a:gd name="adj" fmla="val 6897"/>
            </a:avLst>
          </a:prstGeom>
          <a:solidFill>
            <a:srgbClr val="1B3358"/>
          </a:solidFill>
          <a:ln w="9525">
            <a:solidFill>
              <a:srgbClr val="1D4ED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809744" y="2505456"/>
            <a:ext cx="457200" cy="45720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09744" y="250545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422392" y="2249424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FormularioAlta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422392" y="2560320"/>
            <a:ext cx="309067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Pantalla /nuevo con InputField, zodResolver, submit que hace POST/addDoc, toast de éxito y router.back().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11480" y="3639312"/>
            <a:ext cx="4023360" cy="1325880"/>
          </a:xfrm>
          <a:prstGeom prst="roundRect">
            <a:avLst>
              <a:gd name="adj" fmla="val 6897"/>
            </a:avLst>
          </a:prstGeom>
          <a:solidFill>
            <a:srgbClr val="1B3358"/>
          </a:solidFill>
          <a:ln w="9525">
            <a:solidFill>
              <a:srgbClr val="7C3A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76072" y="4023360"/>
            <a:ext cx="457200" cy="45720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76072" y="4023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188720" y="3767328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FormularioEditar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188720" y="4078224"/>
            <a:ext cx="309067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Pantalla /editar/[id] con reset() precargando datos, PUT/updateDoc, isDirty para el botón guardar.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645152" y="3639312"/>
            <a:ext cx="4023360" cy="1325880"/>
          </a:xfrm>
          <a:prstGeom prst="roundRect">
            <a:avLst>
              <a:gd name="adj" fmla="val 6897"/>
            </a:avLst>
          </a:prstGeom>
          <a:solidFill>
            <a:srgbClr val="1B3358"/>
          </a:solidFill>
          <a:ln w="9525">
            <a:solidFill>
              <a:srgbClr val="EA580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809744" y="4023360"/>
            <a:ext cx="457200" cy="457200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09744" y="4023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422392" y="3767328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+ PR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422392" y="4078224"/>
            <a:ext cx="309067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Alert.alert confirm en DetalleScreen. DELETE en la API. Toast de éxito. Botón + en HomeScreen header.</a:t>
            </a:r>
            <a:endParaRPr lang="en-US" sz="10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82128" y="128016"/>
            <a:ext cx="1170432" cy="274320"/>
          </a:xfrm>
          <a:prstGeom prst="roundRect">
            <a:avLst>
              <a:gd name="adj" fmla="val 23333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882128" y="128016"/>
            <a:ext cx="1170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 ·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046720" y="4873752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/ 30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11480" y="128016"/>
            <a:ext cx="2136038" cy="274320"/>
          </a:xfrm>
          <a:prstGeom prst="roundRect">
            <a:avLst>
              <a:gd name="adj" fmla="val 23333"/>
            </a:avLst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28016"/>
            <a:ext cx="213603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ORGANIZACIÓN · WORKSHOP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512064"/>
            <a:ext cx="8321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 de trabajo — 2 horas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11480" y="950976"/>
            <a:ext cx="832104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115568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primero — B y C lo reutilizan en paralelo. D integra y cierra el CRUD.</a:t>
            </a:r>
            <a:endParaRPr lang="en-US" sz="1300" dirty="0"/>
          </a:p>
        </p:txBody>
      </p:sp>
      <p:pic>
        <p:nvPicPr>
          <p:cNvPr id="10" name="Image 0" descr="Plan de trabajo del workshop Clase 6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371600"/>
            <a:ext cx="8321040" cy="352044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82128" y="128016"/>
            <a:ext cx="1170432" cy="274320"/>
          </a:xfrm>
          <a:prstGeom prst="roundRect">
            <a:avLst>
              <a:gd name="adj" fmla="val 23333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882128" y="128016"/>
            <a:ext cx="1170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 ·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046720" y="4873752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/ 30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11480" y="128016"/>
            <a:ext cx="2510942" cy="274320"/>
          </a:xfrm>
          <a:prstGeom prst="roundRect">
            <a:avLst>
              <a:gd name="adj" fmla="val 23333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28016"/>
            <a:ext cx="251094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CODING · VERSIÓN MÍNIMA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512064"/>
            <a:ext cx="8321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Versión mínima para arrancar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11480" y="950976"/>
            <a:ext cx="832104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115568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formulario de alta más simple posible — los grupos lo extienden con sus campos reales.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11480" y="1417320"/>
            <a:ext cx="8321040" cy="3547872"/>
          </a:xfrm>
          <a:prstGeom prst="roundRect">
            <a:avLst>
              <a:gd name="adj" fmla="val 2577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1545336"/>
            <a:ext cx="795528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schemas/productoSchema.ts — MÍNIMO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z } from 'zod';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const productoSchema = z.object({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nombre: z.string().min(1, 'El nombre es requerido'),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precio: z.coerce.number().positive('Debe ser mayor a 0'),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type ProductoForm = z.infer&lt;typeof productoSchema&gt;;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app/nuevo.tsx — MÍNIMO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useForm, Controller } from 'react-hook-form';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zodResolver } from '@hookform/resolvers/zod';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View, Text, TextInput, TouchableOpacity } from 'react-native';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productoSchema, ProductoForm } from '@/schemas/productoSchema';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productosService } from '@/services/productosService';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useRouter } from 'expo-router';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default function NuevoScreen()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router = useRouter();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{ control, handleSubmit, formState: {errors, isSubmitting}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= useForm&lt;ProductoForm&gt;({ resolver: zodResolver(productoSchema) });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onSubmit = async (data: ProductoForm) =&gt;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await productosService.create(data);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router.back();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&lt;View style={{ padding: 16, gap: 12 }}&gt;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&lt;Controller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control={control} name='nombre'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render={({ field: { onChange, value } }) =&gt; 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&lt;View&gt;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&lt;TextInput value={value} onChangeText={onChange}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placeholder='Nombre' style={{ borderWidth:1, padding:8 }} /&gt;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{errors.nombre &amp;&amp; &lt;Text style={{color:'red'}}&gt;{errors.nombre.message}&lt;/Text&gt;}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&lt;/View&gt;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)}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/&gt;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&lt;TouchableOpacity onPress={handleSubmit(onSubmit)}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disabled={isSubmitting}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style={{ backgroundColor:'#1D4ED8', padding:14, borderRadius:8 }}&gt;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&lt;Text style={{color:'white', textAlign:'center'}}&gt;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{isSubmitting ? 'Guardando...' : 'Crear'}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&lt;/Text&gt;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&lt;/TouchableOpacity&gt;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&lt;/View&gt;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82128" y="128016"/>
            <a:ext cx="1170432" cy="274320"/>
          </a:xfrm>
          <a:prstGeom prst="roundRect">
            <a:avLst>
              <a:gd name="adj" fmla="val 23333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882128" y="128016"/>
            <a:ext cx="1170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 ·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046720" y="4873752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/ 30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11480" y="128016"/>
            <a:ext cx="2136038" cy="274320"/>
          </a:xfrm>
          <a:prstGeom prst="roundRect">
            <a:avLst>
              <a:gd name="adj" fmla="val 23333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28016"/>
            <a:ext cx="213603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DEBUGGING · FORMULARIOS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512064"/>
            <a:ext cx="8321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Errores comunes con RHF y Zod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11480" y="950976"/>
            <a:ext cx="832104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115568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Mensajes de error frecuentes y su causa exacta.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11480" y="1417320"/>
            <a:ext cx="8321040" cy="777240"/>
          </a:xfrm>
          <a:prstGeom prst="roundRect">
            <a:avLst>
              <a:gd name="adj" fmla="val 11765"/>
            </a:avLst>
          </a:prstGeom>
          <a:solidFill>
            <a:srgbClr val="FEF2F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30352" y="1508760"/>
            <a:ext cx="530352" cy="182880"/>
          </a:xfrm>
          <a:prstGeom prst="roundRect">
            <a:avLst>
              <a:gd name="adj" fmla="val 20000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0352" y="1508760"/>
            <a:ext cx="53035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152144" y="1481328"/>
            <a:ext cx="6537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52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Expected number, received string — ZodError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48640" y="1920240"/>
            <a:ext cx="7955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El campo precio viene como string del TextInput. Usar z.coerce.number() en el schema o convertir antes de validar.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11480" y="2304288"/>
            <a:ext cx="8321040" cy="777240"/>
          </a:xfrm>
          <a:prstGeom prst="roundRect">
            <a:avLst>
              <a:gd name="adj" fmla="val 11765"/>
            </a:avLst>
          </a:prstGeom>
          <a:solidFill>
            <a:srgbClr val="FFF7ED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30352" y="2395728"/>
            <a:ext cx="530352" cy="182880"/>
          </a:xfrm>
          <a:prstGeom prst="roundRect">
            <a:avLst>
              <a:gd name="adj" fmla="val 20000"/>
            </a:avLst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0352" y="2395728"/>
            <a:ext cx="53035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1152144" y="2368296"/>
            <a:ext cx="6537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52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Controller: 'name' property should not contain period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48640" y="2807208"/>
            <a:ext cx="7955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El nombre del campo no puede tener puntos. Usar productoSchema en lugar de schema.producto.nombre.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11480" y="3191256"/>
            <a:ext cx="8321040" cy="777240"/>
          </a:xfrm>
          <a:prstGeom prst="roundRect">
            <a:avLst>
              <a:gd name="adj" fmla="val 11765"/>
            </a:avLst>
          </a:prstGeom>
          <a:solidFill>
            <a:srgbClr val="FEF2F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30352" y="3282696"/>
            <a:ext cx="530352" cy="182880"/>
          </a:xfrm>
          <a:prstGeom prst="roundRect">
            <a:avLst>
              <a:gd name="adj" fmla="val 20000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30352" y="3282696"/>
            <a:ext cx="53035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1152144" y="3255264"/>
            <a:ext cx="6537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52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handleSubmit no llama a onSubmit — sin errores visibles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48640" y="3694176"/>
            <a:ext cx="7955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El formulario tiene errores de validación pero no están siendo mostrados. Verificar que errors.nombre esté siendo renderizado.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11480" y="4078224"/>
            <a:ext cx="8321040" cy="777240"/>
          </a:xfrm>
          <a:prstGeom prst="roundRect">
            <a:avLst>
              <a:gd name="adj" fmla="val 11765"/>
            </a:avLst>
          </a:prstGeom>
          <a:solidFill>
            <a:srgbClr val="FFF7ED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30352" y="4169664"/>
            <a:ext cx="530352" cy="182880"/>
          </a:xfrm>
          <a:prstGeom prst="roundRect">
            <a:avLst>
              <a:gd name="adj" fmla="val 20000"/>
            </a:avLst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30352" y="4169664"/>
            <a:ext cx="53035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1152144" y="4142232"/>
            <a:ext cx="6537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52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reset() no funciona — el formulario queda vacío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48640" y="4581144"/>
            <a:ext cx="7955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reset() se llama antes de que el producto cargue. Envolver en useEffect([producto, reset]) para esperar que llegue.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82128" y="128016"/>
            <a:ext cx="1170432" cy="274320"/>
          </a:xfrm>
          <a:prstGeom prst="roundRect">
            <a:avLst>
              <a:gd name="adj" fmla="val 23333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882128" y="128016"/>
            <a:ext cx="1170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 ·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046720" y="4873752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/ 30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11480" y="128016"/>
            <a:ext cx="1986077" cy="274320"/>
          </a:xfrm>
          <a:prstGeom prst="roundRect">
            <a:avLst>
              <a:gd name="adj" fmla="val 23333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28016"/>
            <a:ext cx="1986077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REVIEW · CLASE 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512064"/>
            <a:ext cx="8321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Checklist de code review — CRUD y formularios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11480" y="950976"/>
            <a:ext cx="832104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115568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el reviewer verifica antes de aprobar el PR de Clase 6.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11480" y="1417320"/>
            <a:ext cx="4023360" cy="1444752"/>
          </a:xfrm>
          <a:prstGeom prst="roundRect">
            <a:avLst>
              <a:gd name="adj" fmla="val 6329"/>
            </a:avLst>
          </a:prstGeom>
          <a:solidFill>
            <a:srgbClr val="FEF3C7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1508760"/>
            <a:ext cx="1371600" cy="256032"/>
          </a:xfrm>
          <a:prstGeom prst="roundRect">
            <a:avLst>
              <a:gd name="adj" fmla="val 21429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150876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Zod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94360" y="1883664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58952" y="1865376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¿precio usa z.coerce.number() o z.number()?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94360" y="2203704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58952" y="2185416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¿Hay mensajes de error personalizados en cada campo?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94360" y="2523744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58952" y="2505456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¿ProductoForm se infiere con z.infer&lt;typeof schema&gt;?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663440" y="1417320"/>
            <a:ext cx="4023360" cy="1444752"/>
          </a:xfrm>
          <a:prstGeom prst="roundRect">
            <a:avLst>
              <a:gd name="adj" fmla="val 6329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800600" y="1508760"/>
            <a:ext cx="1371600" cy="256032"/>
          </a:xfrm>
          <a:prstGeom prst="roundRect">
            <a:avLst>
              <a:gd name="adj" fmla="val 21429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00600" y="150876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Hook Form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846320" y="1883664"/>
            <a:ext cx="91440" cy="9144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10912" y="1865376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¿mode: 'onTouched' configurado?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846320" y="2203704"/>
            <a:ext cx="91440" cy="9144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10912" y="2185416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¿El botón submit tiene disabled={isSubmitting || !isValid}?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846320" y="2523744"/>
            <a:ext cx="91440" cy="9144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10912" y="2505456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¿En el edit: isDirty desactiva Guardar si no hay cambios?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11480" y="3090672"/>
            <a:ext cx="4023360" cy="1444752"/>
          </a:xfrm>
          <a:prstGeom prst="roundRect">
            <a:avLst>
              <a:gd name="adj" fmla="val 6329"/>
            </a:avLst>
          </a:prstGeom>
          <a:solidFill>
            <a:srgbClr val="FEF3C7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48640" y="3182112"/>
            <a:ext cx="1371600" cy="256032"/>
          </a:xfrm>
          <a:prstGeom prst="roundRect">
            <a:avLst>
              <a:gd name="adj" fmla="val 21429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8640" y="3182112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completo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94360" y="3557016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8952" y="3538728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¿create, update y delete están en el service?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94360" y="3877056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58952" y="3858768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¿El edit usa reset() en useEffect([producto, reset])?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94360" y="4197096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58952" y="4178808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¿El delete tiene Alert.alert de confirmación?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663440" y="3090672"/>
            <a:ext cx="4023360" cy="1444752"/>
          </a:xfrm>
          <a:prstGeom prst="roundRect">
            <a:avLst>
              <a:gd name="adj" fmla="val 6329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800600" y="3182112"/>
            <a:ext cx="1371600" cy="256032"/>
          </a:xfrm>
          <a:prstGeom prst="roundRect">
            <a:avLst>
              <a:gd name="adj" fmla="val 21429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00600" y="3182112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UX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846320" y="3557016"/>
            <a:ext cx="91440" cy="9144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010912" y="3538728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¿KeyboardAvoidingView envuelve el formulario?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846320" y="3877056"/>
            <a:ext cx="91440" cy="9144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010912" y="3858768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¿Toast de éxito y error configurados?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846320" y="4197096"/>
            <a:ext cx="91440" cy="9144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010912" y="4178808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¿Botón + en el header de HomeScreen?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82128" y="128016"/>
            <a:ext cx="1170432" cy="274320"/>
          </a:xfrm>
          <a:prstGeom prst="roundRect">
            <a:avLst>
              <a:gd name="adj" fmla="val 23333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882128" y="128016"/>
            <a:ext cx="1170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 ·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046720" y="4873752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/ 30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11480" y="128016"/>
            <a:ext cx="1386230" cy="274320"/>
          </a:xfrm>
          <a:prstGeom prst="roundRect">
            <a:avLst>
              <a:gd name="adj" fmla="val 23333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28016"/>
            <a:ext cx="138623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· CLASE 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512064"/>
            <a:ext cx="8321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 workflow — Clase 6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11480" y="950976"/>
            <a:ext cx="832104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115568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y C trabajan en paralelo en ramas distintas. La rama A (schema) se mergea primero para desbloquear.</a:t>
            </a:r>
            <a:endParaRPr lang="en-US" sz="1300" dirty="0"/>
          </a:p>
        </p:txBody>
      </p:sp>
      <p:pic>
        <p:nvPicPr>
          <p:cNvPr id="10" name="Image 0" descr="Git flow Clase 6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325880"/>
            <a:ext cx="8321040" cy="324612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411480" y="4645152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Ramas: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1234440" y="4645152"/>
            <a:ext cx="1828800" cy="256032"/>
          </a:xfrm>
          <a:prstGeom prst="roundRect">
            <a:avLst>
              <a:gd name="adj" fmla="val 21429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234440" y="464515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feature/zod-schemas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172968" y="4645152"/>
            <a:ext cx="2011680" cy="256032"/>
          </a:xfrm>
          <a:prstGeom prst="roundRect">
            <a:avLst>
              <a:gd name="adj" fmla="val 21429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172968" y="4645152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feature/formulario-alta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5294376" y="4645152"/>
            <a:ext cx="2103120" cy="256032"/>
          </a:xfrm>
          <a:prstGeom prst="roundRect">
            <a:avLst>
              <a:gd name="adj" fmla="val 21429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294376" y="4645152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feature/formulario-editar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7507224" y="4645152"/>
            <a:ext cx="1920240" cy="256032"/>
          </a:xfrm>
          <a:prstGeom prst="roundRect">
            <a:avLst>
              <a:gd name="adj" fmla="val 21429"/>
            </a:avLst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507224" y="4645152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feature/delete-confirm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537192" y="4645152"/>
            <a:ext cx="-1399032" cy="256032"/>
          </a:xfrm>
          <a:prstGeom prst="roundRect">
            <a:avLst>
              <a:gd name="adj" fmla="val -6536"/>
            </a:avLst>
          </a:prstGeom>
          <a:solidFill>
            <a:srgbClr val="FEF3C7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628632" y="4663440"/>
            <a:ext cx="-14904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Schema primero — B y C hacen checkout desde la rama A apenas termina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82128" y="128016"/>
            <a:ext cx="1170432" cy="274320"/>
          </a:xfrm>
          <a:prstGeom prst="roundRect">
            <a:avLst>
              <a:gd name="adj" fmla="val 23333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882128" y="128016"/>
            <a:ext cx="1170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 ·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046720" y="4873752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/ 30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11480" y="128016"/>
            <a:ext cx="1371600" cy="274320"/>
          </a:xfrm>
          <a:prstGeom prst="roundRect">
            <a:avLst>
              <a:gd name="adj" fmla="val 23333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28016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512064"/>
            <a:ext cx="8321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Entrega grupal — Clase 6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11480" y="950976"/>
            <a:ext cx="832104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115568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 mergeado en main. CRUD 100% funcional. Probado en dispositivo físico.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11480" y="1298448"/>
            <a:ext cx="8321040" cy="402336"/>
          </a:xfrm>
          <a:prstGeom prst="roundRect">
            <a:avLst>
              <a:gd name="adj" fmla="val 2272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30352" y="1371600"/>
            <a:ext cx="329184" cy="256032"/>
          </a:xfrm>
          <a:prstGeom prst="roundRect">
            <a:avLst>
              <a:gd name="adj" fmla="val 17857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0352" y="1371600"/>
            <a:ext cx="3291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005840" y="1335024"/>
            <a:ext cx="3291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productoSchema.ts con Zod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1005840" y="1527048"/>
            <a:ext cx="75895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menos 3 campos validados con mensajes de error personalizados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11480" y="1746504"/>
            <a:ext cx="8321040" cy="402336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30352" y="1819656"/>
            <a:ext cx="329184" cy="256032"/>
          </a:xfrm>
          <a:prstGeom prst="roundRect">
            <a:avLst>
              <a:gd name="adj" fmla="val 17857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0352" y="1819656"/>
            <a:ext cx="3291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05840" y="1783080"/>
            <a:ext cx="3291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InputField reutilizable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1005840" y="1975104"/>
            <a:ext cx="75895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 + TextInput + label + mensaje de error en el mismo componente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11480" y="2194560"/>
            <a:ext cx="8321040" cy="402336"/>
          </a:xfrm>
          <a:prstGeom prst="roundRect">
            <a:avLst>
              <a:gd name="adj" fmla="val 2272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30352" y="2267712"/>
            <a:ext cx="329184" cy="256032"/>
          </a:xfrm>
          <a:prstGeom prst="roundRect">
            <a:avLst>
              <a:gd name="adj" fmla="val 17857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30352" y="2267712"/>
            <a:ext cx="3291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005840" y="2231136"/>
            <a:ext cx="3291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FormularioAlta funcionando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1005840" y="2423160"/>
            <a:ext cx="75895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Pantalla /nuevo — validación, submit, toast de éxito, router.back()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11480" y="2642616"/>
            <a:ext cx="8321040" cy="402336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30352" y="2715768"/>
            <a:ext cx="329184" cy="256032"/>
          </a:xfrm>
          <a:prstGeom prst="roundRect">
            <a:avLst>
              <a:gd name="adj" fmla="val 17857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30352" y="2715768"/>
            <a:ext cx="3291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005840" y="2679192"/>
            <a:ext cx="3291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FormularioEditar con reset()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1005840" y="2871216"/>
            <a:ext cx="75895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Pantalla /editar/[id] — defaultValues del ítem, isDirty en el botón guardar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11480" y="3090672"/>
            <a:ext cx="8321040" cy="402336"/>
          </a:xfrm>
          <a:prstGeom prst="roundRect">
            <a:avLst>
              <a:gd name="adj" fmla="val 2272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30352" y="3163824"/>
            <a:ext cx="329184" cy="256032"/>
          </a:xfrm>
          <a:prstGeom prst="roundRect">
            <a:avLst>
              <a:gd name="adj" fmla="val 17857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30352" y="3163824"/>
            <a:ext cx="3291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1005840" y="3127248"/>
            <a:ext cx="3291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productosService.ts completo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1005840" y="3319272"/>
            <a:ext cx="75895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create, update y delete implementados — REST o Firebase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11480" y="3538728"/>
            <a:ext cx="8321040" cy="402336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30352" y="3611880"/>
            <a:ext cx="329184" cy="256032"/>
          </a:xfrm>
          <a:prstGeom prst="roundRect">
            <a:avLst>
              <a:gd name="adj" fmla="val 17857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30352" y="3611880"/>
            <a:ext cx="3291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1005840" y="3575304"/>
            <a:ext cx="3291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con Alert.alert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1005840" y="3767328"/>
            <a:ext cx="75895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Confirmación con style: 'destructive' y toast de resultado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11480" y="3986784"/>
            <a:ext cx="8321040" cy="402336"/>
          </a:xfrm>
          <a:prstGeom prst="roundRect">
            <a:avLst>
              <a:gd name="adj" fmla="val 2272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30352" y="4059936"/>
            <a:ext cx="329184" cy="256032"/>
          </a:xfrm>
          <a:prstGeom prst="roundRect">
            <a:avLst>
              <a:gd name="adj" fmla="val 17857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30352" y="4059936"/>
            <a:ext cx="3291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1005840" y="4023360"/>
            <a:ext cx="3291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KeyboardAvoidingView en ambas</a:t>
            </a:r>
            <a:endParaRPr lang="en-US" sz="1150" dirty="0"/>
          </a:p>
        </p:txBody>
      </p:sp>
      <p:sp>
        <p:nvSpPr>
          <p:cNvPr id="44" name="Text 42"/>
          <p:cNvSpPr/>
          <p:nvPr/>
        </p:nvSpPr>
        <p:spPr>
          <a:xfrm>
            <a:off x="1005840" y="4215384"/>
            <a:ext cx="75895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behavior: 'padding' en iOS, 'height' en Android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11480" y="4434840"/>
            <a:ext cx="8321040" cy="402336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30352" y="4507992"/>
            <a:ext cx="329184" cy="256032"/>
          </a:xfrm>
          <a:prstGeom prst="roundRect">
            <a:avLst>
              <a:gd name="adj" fmla="val 17857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30352" y="4507992"/>
            <a:ext cx="3291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1005840" y="4471416"/>
            <a:ext cx="3291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Toast de éxito y error</a:t>
            </a:r>
            <a:endParaRPr lang="en-US" sz="1150" dirty="0"/>
          </a:p>
        </p:txBody>
      </p:sp>
      <p:sp>
        <p:nvSpPr>
          <p:cNvPr id="49" name="Text 47"/>
          <p:cNvSpPr/>
          <p:nvPr/>
        </p:nvSpPr>
        <p:spPr>
          <a:xfrm>
            <a:off x="1005840" y="4663440"/>
            <a:ext cx="75895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react-native-toast-message configurado en _layout.tsx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411480" y="4882896"/>
            <a:ext cx="8321040" cy="402336"/>
          </a:xfrm>
          <a:prstGeom prst="roundRect">
            <a:avLst>
              <a:gd name="adj" fmla="val 22727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530352" y="4956048"/>
            <a:ext cx="329184" cy="256032"/>
          </a:xfrm>
          <a:prstGeom prst="roundRect">
            <a:avLst>
              <a:gd name="adj" fmla="val 1785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30352" y="4956048"/>
            <a:ext cx="3291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★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1005840" y="4919472"/>
            <a:ext cx="3291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Swipe to delete en FlatList (bonus)</a:t>
            </a:r>
            <a:endParaRPr lang="en-US" sz="1150" dirty="0"/>
          </a:p>
        </p:txBody>
      </p:sp>
      <p:sp>
        <p:nvSpPr>
          <p:cNvPr id="54" name="Text 52"/>
          <p:cNvSpPr/>
          <p:nvPr/>
        </p:nvSpPr>
        <p:spPr>
          <a:xfrm>
            <a:off x="1005840" y="5111496"/>
            <a:ext cx="75895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Usar Swipeable de react-native-gesture-handler para borrar deslizando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7808976" y="4956048"/>
            <a:ext cx="749808" cy="237744"/>
          </a:xfrm>
          <a:prstGeom prst="roundRect">
            <a:avLst>
              <a:gd name="adj" fmla="val 2307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808976" y="4956048"/>
            <a:ext cx="7498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411480" y="5330952"/>
            <a:ext cx="8321040" cy="402336"/>
          </a:xfrm>
          <a:prstGeom prst="roundRect">
            <a:avLst>
              <a:gd name="adj" fmla="val 22727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530352" y="5404104"/>
            <a:ext cx="329184" cy="256032"/>
          </a:xfrm>
          <a:prstGeom prst="roundRect">
            <a:avLst>
              <a:gd name="adj" fmla="val 1785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30352" y="5404104"/>
            <a:ext cx="3291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★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1005840" y="5367528"/>
            <a:ext cx="3291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Optimistic update (bonus)</a:t>
            </a:r>
            <a:endParaRPr lang="en-US" sz="1150" dirty="0"/>
          </a:p>
        </p:txBody>
      </p:sp>
      <p:sp>
        <p:nvSpPr>
          <p:cNvPr id="61" name="Text 59"/>
          <p:cNvSpPr/>
          <p:nvPr/>
        </p:nvSpPr>
        <p:spPr>
          <a:xfrm>
            <a:off x="1005840" y="5559552"/>
            <a:ext cx="75895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Actualizar la lista localmente antes de que la API confirme — mejor UX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7808976" y="5404104"/>
            <a:ext cx="749808" cy="237744"/>
          </a:xfrm>
          <a:prstGeom prst="roundRect">
            <a:avLst>
              <a:gd name="adj" fmla="val 2307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808976" y="5404104"/>
            <a:ext cx="7498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</a:t>
            </a:r>
            <a:endParaRPr lang="en-US" sz="800" dirty="0"/>
          </a:p>
        </p:txBody>
      </p:sp>
      <p:sp>
        <p:nvSpPr>
          <p:cNvPr id="64" name="Shape 62"/>
          <p:cNvSpPr/>
          <p:nvPr/>
        </p:nvSpPr>
        <p:spPr>
          <a:xfrm>
            <a:off x="411480" y="4901184"/>
            <a:ext cx="8321040" cy="146304"/>
          </a:xfrm>
          <a:prstGeom prst="roundRect">
            <a:avLst>
              <a:gd name="adj" fmla="val 62500"/>
            </a:avLst>
          </a:prstGeom>
          <a:solidFill>
            <a:srgbClr val="FEF3C7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566928" y="4928616"/>
            <a:ext cx="795528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 debe incluir video del flujo completo: crear → editar → eliminar con toast en el celular.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82128" y="128016"/>
            <a:ext cx="1170432" cy="274320"/>
          </a:xfrm>
          <a:prstGeom prst="roundRect">
            <a:avLst>
              <a:gd name="adj" fmla="val 23333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882128" y="128016"/>
            <a:ext cx="1170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 ·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046720" y="4873752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/ 30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11480" y="128016"/>
            <a:ext cx="1386230" cy="274320"/>
          </a:xfrm>
          <a:prstGeom prst="roundRect">
            <a:avLst>
              <a:gd name="adj" fmla="val 23333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28016"/>
            <a:ext cx="138623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PRÓXIMA CLASE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512064"/>
            <a:ext cx="8321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Clase 7 — Hardware del dispositivo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11480" y="950976"/>
            <a:ext cx="832104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115568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el CRUD completo, la Clase 7 integra capacidades nativas: cámara, GPS y notificaciones.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11480" y="1481328"/>
            <a:ext cx="8321040" cy="594360"/>
          </a:xfrm>
          <a:prstGeom prst="roundRect">
            <a:avLst>
              <a:gd name="adj" fmla="val 15385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30352" y="1591056"/>
            <a:ext cx="1389888" cy="256032"/>
          </a:xfrm>
          <a:prstGeom prst="roundRect">
            <a:avLst>
              <a:gd name="adj" fmla="val 21429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0352" y="1591056"/>
            <a:ext cx="13898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expo-camera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066544" y="1609344"/>
            <a:ext cx="6537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Capturar foto de perfil o imagen del ítem — ImagePicker con crop y compresión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11480" y="2167128"/>
            <a:ext cx="8321040" cy="59436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30352" y="2276856"/>
            <a:ext cx="1389888" cy="256032"/>
          </a:xfrm>
          <a:prstGeom prst="roundRect">
            <a:avLst>
              <a:gd name="adj" fmla="val 21429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0352" y="2276856"/>
            <a:ext cx="13898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expo-location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066544" y="2295144"/>
            <a:ext cx="6537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en foreground — ubicación del usuario o del ítem en un mapa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11480" y="2852928"/>
            <a:ext cx="8321040" cy="594360"/>
          </a:xfrm>
          <a:prstGeom prst="roundRect">
            <a:avLst>
              <a:gd name="adj" fmla="val 15385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30352" y="2962656"/>
            <a:ext cx="1389888" cy="256032"/>
          </a:xfrm>
          <a:prstGeom prst="roundRect">
            <a:avLst>
              <a:gd name="adj" fmla="val 21429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0352" y="2962656"/>
            <a:ext cx="13898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expo-notifications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066544" y="2980944"/>
            <a:ext cx="6537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Notificaciones locales programadas — recordatorios, alertas de stock bajo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11480" y="3538728"/>
            <a:ext cx="8321040" cy="59436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30352" y="3648456"/>
            <a:ext cx="1389888" cy="256032"/>
          </a:xfrm>
          <a:prstGeom prst="roundRect">
            <a:avLst>
              <a:gd name="adj" fmla="val 21429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0352" y="3648456"/>
            <a:ext cx="13898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expo-secure-store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2066544" y="3666744"/>
            <a:ext cx="6537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Guardar el token JWT del usuario de forma segura — preparar para Clase 8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11480" y="4224528"/>
            <a:ext cx="8321040" cy="594360"/>
          </a:xfrm>
          <a:prstGeom prst="roundRect">
            <a:avLst>
              <a:gd name="adj" fmla="val 15385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30352" y="4334256"/>
            <a:ext cx="1389888" cy="256032"/>
          </a:xfrm>
          <a:prstGeom prst="roundRect">
            <a:avLst>
              <a:gd name="adj" fmla="val 21429"/>
            </a:avLst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30352" y="4334256"/>
            <a:ext cx="13898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2066544" y="4352544"/>
            <a:ext cx="6537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nativa elegida por el grupo + permisos iOS/Android + PR con evidencia en celular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411480" y="4937760"/>
            <a:ext cx="8321040" cy="164592"/>
          </a:xfrm>
          <a:prstGeom prst="roundRect">
            <a:avLst>
              <a:gd name="adj" fmla="val 55556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66928" y="4965192"/>
            <a:ext cx="795528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Traer el PR de Clase 6 mergeado. El CRUD completo es prerequisito para las features nativas.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522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1B3358"/>
          </a:solidFill>
          <a:ln w="12700">
            <a:solidFill>
              <a:srgbClr val="1B335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909560" y="0"/>
            <a:ext cx="1234440" cy="514350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818120" y="502920"/>
            <a:ext cx="960120" cy="9601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18120" y="502920"/>
            <a:ext cx="9601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7863840" y="1664208"/>
            <a:ext cx="868680" cy="86868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1664208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11480" y="777240"/>
            <a:ext cx="6309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¿Consultas?</a:t>
            </a:r>
            <a:endParaRPr lang="en-US" sz="4400" dirty="0"/>
          </a:p>
        </p:txBody>
      </p:sp>
      <p:sp>
        <p:nvSpPr>
          <p:cNvPr id="9" name="Shape 7"/>
          <p:cNvSpPr/>
          <p:nvPr/>
        </p:nvSpPr>
        <p:spPr>
          <a:xfrm>
            <a:off x="411480" y="1572768"/>
            <a:ext cx="2926080" cy="0"/>
          </a:xfrm>
          <a:prstGeom prst="line">
            <a:avLst/>
          </a:prstGeom>
          <a:noFill/>
          <a:ln w="19050">
            <a:solidFill>
              <a:srgbClr val="FEF3C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719072"/>
            <a:ext cx="6217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EF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Aprendimos hoy: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11480" y="2084832"/>
            <a:ext cx="91440" cy="91440"/>
          </a:xfrm>
          <a:prstGeom prst="ellips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2066544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Zod — validaciones declarativas tipadas con mensajes personalizados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11480" y="2404872"/>
            <a:ext cx="91440" cy="91440"/>
          </a:xfrm>
          <a:prstGeom prst="ellips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2386584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Hook Form + zodResolver — sin re-renders innecesarios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11480" y="2724912"/>
            <a:ext cx="91440" cy="91440"/>
          </a:xfrm>
          <a:prstGeom prst="ellips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2706624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 + InputField reutilizable — una vez, usada en todo el proyecto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11480" y="3044952"/>
            <a:ext cx="91440" cy="91440"/>
          </a:xfrm>
          <a:prstGeom prst="ellips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3026664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KeyboardAvoidingView — el campo activo siempre visible en mobile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11480" y="3364992"/>
            <a:ext cx="91440" cy="91440"/>
          </a:xfrm>
          <a:prstGeom prst="ellips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3346704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completo: create, update y delete con toast y confirmación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11480" y="3685032"/>
            <a:ext cx="91440" cy="91440"/>
          </a:xfrm>
          <a:prstGeom prst="ellips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" y="3666744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FormularioEditar con reset() y isDirty — UX profesional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11480" y="4059936"/>
            <a:ext cx="6217920" cy="0"/>
          </a:xfrm>
          <a:prstGeom prst="line">
            <a:avLst/>
          </a:prstGeom>
          <a:noFill/>
          <a:ln w="9525">
            <a:solidFill>
              <a:srgbClr val="2A4B6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1480" y="4160520"/>
            <a:ext cx="6217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Clase 7: cámara, GPS y notificaciones — el proyecto usa el hardware del celular.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11480" y="4864608"/>
            <a:ext cx="6400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A4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Universidad Nacional de Pilar · Tecnicatura en Desarrollo de Software · 2026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Aplicaciones Móviles — Clase 6: Formularios, Validación y CRUD</dc:title>
  <dc:subject>PptxGenJS Presentation</dc:subject>
  <dc:creator>Universidad Nacional de Pilar</dc:creator>
  <cp:lastModifiedBy>Universidad Nacional de Pilar</cp:lastModifiedBy>
  <cp:revision>1</cp:revision>
  <dcterms:created xsi:type="dcterms:W3CDTF">2026-06-15T14:12:25Z</dcterms:created>
  <dcterms:modified xsi:type="dcterms:W3CDTF">2026-06-15T14:12:25Z</dcterms:modified>
</cp:coreProperties>
</file>